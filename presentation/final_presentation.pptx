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24d459014a4a40" /><Relationship Type="http://schemas.openxmlformats.org/officeDocument/2006/relationships/extended-properties" Target="/docProps/app.xml" Id="Rc712fb1e915d498d" /><Relationship Type="http://schemas.openxmlformats.org/officeDocument/2006/relationships/officeDocument" Target="/ppt/presentation.xml" Id="R87496e8878544b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6af464361948fa"/>
  </p:sldMasterIdLst>
  <p:notesMasterIdLst>
    <p:notesMasterId xmlns:r="http://schemas.openxmlformats.org/officeDocument/2006/relationships" r:id="R5db01fefd2b24c2c"/>
  </p:notesMasterIdLst>
  <p:sldIdLst>
    <p:sldId xmlns:r="http://schemas.openxmlformats.org/officeDocument/2006/relationships" id="256" r:id="Rc69429d3e26e46bb"/>
    <p:sldId xmlns:r="http://schemas.openxmlformats.org/officeDocument/2006/relationships" id="257" r:id="Ra53d0683738b4ad6"/>
    <p:sldId xmlns:r="http://schemas.openxmlformats.org/officeDocument/2006/relationships" id="258" r:id="R250e8f2cd21044a0"/>
    <p:sldId xmlns:r="http://schemas.openxmlformats.org/officeDocument/2006/relationships" id="259" r:id="R8a132c304f8847ea"/>
    <p:sldId xmlns:r="http://schemas.openxmlformats.org/officeDocument/2006/relationships" id="260" r:id="Rbb19d2a4637f48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b54ea39d4c44c3" /><Relationship Type="http://schemas.openxmlformats.org/officeDocument/2006/relationships/slideMaster" Target="/ppt/slideMasters/slideMaster1.xml" Id="Rfd6af464361948fa" /><Relationship Type="http://schemas.openxmlformats.org/officeDocument/2006/relationships/notesMaster" Target="/ppt/notesMasters/notesMaster1.xml" Id="R5db01fefd2b24c2c" /><Relationship Type="http://schemas.openxmlformats.org/officeDocument/2006/relationships/presProps" Target="/ppt/presProps.xml" Id="R804b2ebf21cf4421" /><Relationship Type="http://schemas.openxmlformats.org/officeDocument/2006/relationships/tableStyles" Target="/ppt/tableStyles.xml" Id="R50f09b87d58e4f90" /><Relationship Type="http://schemas.openxmlformats.org/officeDocument/2006/relationships/slide" Target="/ppt/slides/slide1.xml" Id="Rc69429d3e26e46bb" /><Relationship Type="http://schemas.openxmlformats.org/officeDocument/2006/relationships/slide" Target="/ppt/slides/slide2.xml" Id="Ra53d0683738b4ad6" /><Relationship Type="http://schemas.openxmlformats.org/officeDocument/2006/relationships/slide" Target="/ppt/slides/slide3.xml" Id="R250e8f2cd21044a0" /><Relationship Type="http://schemas.openxmlformats.org/officeDocument/2006/relationships/slide" Target="/ppt/slides/slide4.xml" Id="R8a132c304f8847ea" /><Relationship Type="http://schemas.openxmlformats.org/officeDocument/2006/relationships/slide" Target="/ppt/slides/slide5.xml" Id="Rbb19d2a4637f48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b68bf7f6d843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71b7c52dc44dfc" /><Relationship Type="http://schemas.openxmlformats.org/officeDocument/2006/relationships/notesMaster" Target="/ppt/notesMasters/notesMaster1.xml" Id="R8d17df305db947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1b05fbfbdb410c" /><Relationship Type="http://schemas.openxmlformats.org/officeDocument/2006/relationships/notesMaster" Target="/ppt/notesMasters/notesMaster1.xml" Id="R0d91a05d1f4546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5355e304634b30" /><Relationship Type="http://schemas.openxmlformats.org/officeDocument/2006/relationships/notesMaster" Target="/ppt/notesMasters/notesMaster1.xml" Id="Ra0f0a383d37145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b20b7192864eb0" /><Relationship Type="http://schemas.openxmlformats.org/officeDocument/2006/relationships/notesMaster" Target="/ppt/notesMasters/notesMaster1.xml" Id="R189a657de1374f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20b767c22924c25" /><Relationship Type="http://schemas.openxmlformats.org/officeDocument/2006/relationships/notesMaster" Target="/ppt/notesMasters/notesMaster1.xml" Id="R67b1fda372f24a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task and labels. Emphasize that the final training set contains 11,383 usable texts, nearly balanced between AI or mixed-authorship and human writing. The project uses separate standard, literary, and mixed-authorship evaluations so the result is not based on one easy test set.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with the four design priorities. Topic-matched pairs reduce topic shortcuts, balanced labels make metrics interpretable, leakage checks keep related items together, and diverse sources improve coverage. Then explain the distinct purpose of each dataset: training, standard external evaluation, literary paraphrase stress test, and mixed-authorship stress test.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pipeline in five simple stages. The important distinction is that cross-validation happens only inside training data and is used for model selection. The external, HIP, and Heterogeneous sets are evaluated afterward and are not used for tuning.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seven candidates use the same pair-aware folds and are ranked by mean Macro-F1. Linear SVM with TF-IDF and six linguistic features is first at 89.71 percent. Report both accuracy and Macro-F1 for the three held-out tests. The external test reaches 89.60 percent on both metrics. HIP is the hardest set at 72.38 percent accuracy and 72.17 percent Macro-F1. Heterogeneous reaches 86.10 percent on both. The 100-word sensitivity run improves HIP and changes Heterogeneous only slightly, but it lowers external performance and removes more short human texts. For that reason, the 50-word setting remains the primary experiment.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algorithms comparatively. Linear SVM is a natural match for high-dimensional sparse TF-IDF and learns a maximum-margin boundary. Logistic Regression is also strong, but it is consistently lower on the same folds. Naive Bayes is included as a fast classical baseline; its independence assumption is too simple for correlated unigrams, bigrams, and style cues. Be precise: the six linguistic features improve SVM by only about 0.19 percentage points, so the main gain comes from the TF-IDF plus SVM combination. Scaled linguistic features were not added to Multinomial Naive Bayes because scaling can create negative values, which that model does not accept.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f56554a973443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51b1296953445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c121456b204d8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214de53b6c498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61ad897d0042e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4c1db1c8ec4a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F56585-F736-4DA5-8547-B9545DCC9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A58F7BA-C444-48CB-AE40-716B2E64486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BFA9E09-6CAC-4C4B-BA83-A3A6A9CE5F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D783CD-7364-4750-BA57-FB4E202C8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316BBD0-497E-468D-95BF-A09133365B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EDCEB92-3D70-481A-BF1B-120772E6AD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1910B8D-62BD-4C3C-8341-58890E1470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EE1F223-9BD6-4515-95A2-56BCF4E5981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B2CDC9-2885-4F8D-8DFF-F48DDF8E2F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27D76C-A162-45D8-8CE7-A5AE93C96F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ef9007b15c4bb4" /><Relationship Type="http://schemas.openxmlformats.org/officeDocument/2006/relationships/slideLayout" Target="/ppt/slideLayouts/slideLayout1.xml" Id="R7a48e2d706074025" /><Relationship Type="http://schemas.openxmlformats.org/officeDocument/2006/relationships/slideLayout" Target="/ppt/slideLayouts/slideLayout2.xml" Id="Rd1f7cfd9257d4947" /><Relationship Type="http://schemas.openxmlformats.org/officeDocument/2006/relationships/slideLayout" Target="/ppt/slideLayouts/slideLayout3.xml" Id="R2ca46eb9378646a3" /><Relationship Type="http://schemas.openxmlformats.org/officeDocument/2006/relationships/slideLayout" Target="/ppt/slideLayouts/slideLayout4.xml" Id="Racc589f2d7f04e7f" /><Relationship Type="http://schemas.openxmlformats.org/officeDocument/2006/relationships/slideLayout" Target="/ppt/slideLayouts/slideLayout5.xml" Id="Rd914210e8cd14a8e" /><Relationship Type="http://schemas.openxmlformats.org/officeDocument/2006/relationships/slideLayout" Target="/ppt/slideLayouts/slideLayout6.xml" Id="R53502a54792545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48e2d706074025"/>
    <p:sldLayoutId xmlns:r="http://schemas.openxmlformats.org/officeDocument/2006/relationships" id="2147483650" r:id="Rd1f7cfd9257d4947"/>
    <p:sldLayoutId xmlns:r="http://schemas.openxmlformats.org/officeDocument/2006/relationships" id="2147483651" r:id="R2ca46eb9378646a3"/>
    <p:sldLayoutId xmlns:r="http://schemas.openxmlformats.org/officeDocument/2006/relationships" id="2147483652" r:id="Racc589f2d7f04e7f"/>
    <p:sldLayoutId xmlns:r="http://schemas.openxmlformats.org/officeDocument/2006/relationships" id="2147483653" r:id="Rd914210e8cd14a8e"/>
    <p:sldLayoutId xmlns:r="http://schemas.openxmlformats.org/officeDocument/2006/relationships" id="2147483654" r:id="R53502a54792545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8a3135a65a41d7" /><Relationship Type="http://schemas.openxmlformats.org/officeDocument/2006/relationships/notesSlide" Target="/ppt/notesSlides/notesSlide1.xml" Id="R74f31676d02940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b68d1d4cab4aa9" /><Relationship Type="http://schemas.openxmlformats.org/officeDocument/2006/relationships/notesSlide" Target="/ppt/notesSlides/notesSlide2.xml" Id="Rff95947b68af45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7e2fdab1994eb4" /><Relationship Type="http://schemas.openxmlformats.org/officeDocument/2006/relationships/notesSlide" Target="/ppt/notesSlides/notesSlide3.xml" Id="R29e798a484d348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cd99a6a4214a3e" /><Relationship Type="http://schemas.openxmlformats.org/officeDocument/2006/relationships/chart" Target="/ppt/slides/charts/chart1.xml" Id="Rc74bf6c499b244a6" /><Relationship Type="http://schemas.openxmlformats.org/officeDocument/2006/relationships/notesSlide" Target="/ppt/notesSlides/notesSlide4.xml" Id="Rb261c75db3ff49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8ec5a8f2b3421f" /><Relationship Type="http://schemas.openxmlformats.org/officeDocument/2006/relationships/notesSlide" Target="/ppt/notesSlides/notesSlide5.xml" Id="R2b9891d4d52a447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Macro-F1</c:v>
          </c:tx>
          <c:spPr>
            <a:solidFill xmlns:a="http://schemas.openxmlformats.org/drawingml/2006/main">
              <a:srgbClr val="89A6FF"/>
            </a:solidFill>
          </c:spPr>
          <c:invertIfNegative val="0"/>
          <c:dPt>
            <c:idx val="0"/>
            <c:invertIfNegative val="0"/>
            <c:spPr>
              <a:solidFill xmlns:a="http://schemas.openxmlformats.org/drawingml/2006/main">
                <a:srgbClr val="64DCD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9A6F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9A6FF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9A6FF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6F879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6F879F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FFBD7C"/>
              </a:solidFill>
            </c:spPr>
          </c:dPt>
          <c:cat>
            <c:strRef>
              <c:f>'Chart Data'!$A$2:$A$8</c:f>
              <c:strCache>
                <c:ptCount val="7"/>
                <c:pt idx="0">
                  <c:v>SVM + linguistic</c:v>
                </c:pt>
                <c:pt idx="1">
                  <c:v>SVM</c:v>
                </c:pt>
                <c:pt idx="2">
                  <c:v>LogReg</c:v>
                </c:pt>
                <c:pt idx="3">
                  <c:v>LogReg + linguistic</c:v>
                </c:pt>
                <c:pt idx="4">
                  <c:v>SVM · no stop words</c:v>
                </c:pt>
                <c:pt idx="5">
                  <c:v>LogReg · no stop words</c:v>
                </c:pt>
                <c:pt idx="6">
                  <c:v>Naive Bayes</c:v>
                </c:pt>
              </c:strCache>
            </c:strRef>
          </c:cat>
          <c:val>
            <c:numRef>
              <c:f>'Chart Data'!$B$2:$B$8</c:f>
              <c:numCache>
                <c:formatCode>General</c:formatCode>
                <c:ptCount val="7"/>
                <c:pt idx="0">
                  <c:v>89.71</c:v>
                </c:pt>
                <c:pt idx="1">
                  <c:v>89.52</c:v>
                </c:pt>
                <c:pt idx="2">
                  <c:v>87.43</c:v>
                </c:pt>
                <c:pt idx="3">
                  <c:v>87.19</c:v>
                </c:pt>
                <c:pt idx="4">
                  <c:v>85.85</c:v>
                </c:pt>
                <c:pt idx="5">
                  <c:v>85.17</c:v>
                </c:pt>
                <c:pt idx="6">
                  <c:v>69.37</c:v>
                </c:pt>
              </c:numCache>
            </c:numRef>
          </c:val>
        </c:ser>
        <c:dLbls>
          <c:numFmt formatCode="0.00'%'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F6FA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2A4158"/>
              </a:solidFill>
              <a:prstDash val="solid"/>
            </a:ln>
          </c:spPr>
        </c:majorGridlines>
        <c:numFmt formatCode="0'%'"/>
        <c:majorTickMark val="none"/>
        <c:minorTickMark val="none"/>
        <c:spPr>
          <a:ln xmlns:a="http://schemas.openxmlformats.org/drawingml/2006/main" w="9525">
            <a:solidFill>
              <a:srgbClr val="2A415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F879F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solidFill>
              <a:srgbClr val="07142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ADBED4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071421"/>
        </a:solidFill>
        <a:ln xmlns:a="http://schemas.openxmlformats.org/drawingml/2006/main" w="0">
          <a:solidFill>
            <a:srgbClr val="071421"/>
          </a:solidFill>
          <a:prstDash val="solid"/>
        </a:ln>
      </c:spPr>
    </c:plotArea>
    <c:plotVisOnly val="1"/>
  </c:chart>
  <c:spPr>
    <a:solidFill xmlns:a="http://schemas.openxmlformats.org/drawingml/2006/main">
      <a:srgbClr val="071421"/>
    </a:solidFill>
    <a:ln xmlns:a="http://schemas.openxmlformats.org/drawingml/2006/main" w="0">
      <a:solidFill>
        <a:srgbClr val="071421"/>
      </a:solidFill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3A5894-8180-4619-9274-2AA55DCA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476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E9FAF-1D96-49D4-BB9F-926C6428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NLP PROJECT · AI VS. HUMAN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FA578E-3800-4ABB-B5F1-AE4750CD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190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INTRODUCTION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8E6F2D-63F5-4F27-B811-AF0C8732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190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76B908-EC32-449C-A853-6469A60B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0810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6FAFF"/>
                </a:solidFill>
              </a:defRPr>
            </a:pPr>
            <a:r>
              <a:rPr sz="2250" b="1">
                <a:solidFill>
                  <a:srgbClr val="F6FAFF"/>
                </a:solidFill>
              </a:rPr>
              <a:t>WHO WROTE THIS TEXT?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59A1B-4FAF-4279-BC05-F191EA5E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1081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DBED4"/>
                </a:solidFill>
              </a:defRPr>
            </a:pPr>
            <a:r>
              <a:rPr sz="1125" b="0">
                <a:solidFill>
                  <a:srgbClr val="ADBED4"/>
                </a:solidFill>
              </a:rPr>
              <a:t>AI-generated vs. human-written text classification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C7C0D9-0F5A-42A6-A173-9162CAFD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67475"/>
            <a:ext cx="1099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75B142-C4EC-467C-AC3A-CF261EBE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6F879F"/>
                </a:solidFill>
              </a:defRPr>
            </a:pPr>
            <a:r>
              <a:rPr sz="675" b="0">
                <a:solidFill>
                  <a:srgbClr val="6F879F"/>
                </a:solidFill>
              </a:rPr>
              <a:t>AI vs. Human · Oct 2026 · Four-dataset benchmark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6C379-8E2C-491D-9AE2-0272EADD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675" b="0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r">
              <a:defRPr sz="675" b="0">
                <a:solidFill>
                  <a:srgbClr val="6F879F"/>
                </a:solidFill>
              </a:defRPr>
            </a:pPr>
            <a:r>
              <a:rPr sz="675" b="0">
                <a:solidFill>
                  <a:srgbClr val="6F879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11C6C-C4A3-4E4E-9597-7BCB9C91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6048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6FAFF"/>
                </a:solidFill>
              </a:defRPr>
            </a:pPr>
            <a:r>
              <a:rPr sz="1875" b="1">
                <a:solidFill>
                  <a:srgbClr val="F6FAFF"/>
                </a:solidFill>
              </a:rPr>
              <a:t>A leakage-aware benchmark across standard, literary, and mixed-authorship writing.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465872-7CC2-4E2D-83DB-9C4A7148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64DCD3"/>
                </a:solidFill>
              </a:defRPr>
            </a:pPr>
            <a:r>
              <a:rPr sz="1050" b="1">
                <a:solidFill>
                  <a:srgbClr val="64DCD3"/>
                </a:solidFill>
              </a:rPr>
              <a:t>Label 0 = AI or mixed authorship    ·    Label 1 = Human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71A331-6EE4-4C2C-AEA2-BB4B5F88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19400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DBED4"/>
                </a:solidFill>
              </a:defRPr>
            </a:pPr>
            <a:r>
              <a:rPr sz="1350" b="0">
                <a:solidFill>
                  <a:srgbClr val="ADBED4"/>
                </a:solidFill>
              </a:rPr>
              <a:t>The goal is not to memorize topics. It is to learn writing patterns that still generalize to unseen sources.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845B41-C5BC-477C-B70A-555D1F14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71900"/>
            <a:ext cx="12573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12A42"/>
          </a:solidFill>
          <a:ln xmlns:a="http://schemas.openxmlformats.org/drawingml/2006/main" w="9525">
            <a:solidFill>
              <a:srgbClr val="64DCD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B4E95E-8A94-4204-9311-A5A682BD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1104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ctr">
              <a:defRPr sz="750" b="1">
                <a:solidFill>
                  <a:srgbClr val="64DCD3"/>
                </a:solidFill>
              </a:defRPr>
            </a:pPr>
            <a:r>
              <a:rPr sz="750" b="1">
                <a:solidFill>
                  <a:srgbClr val="64DCD3"/>
                </a:solidFill>
              </a:rPr>
              <a:t>PAIR-AWARE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CE9E72-7522-4FDB-BBFF-E6DFB57A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771900"/>
            <a:ext cx="1428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12A42"/>
          </a:solidFill>
          <a:ln xmlns:a="http://schemas.openxmlformats.org/drawingml/2006/main" w="9525">
            <a:solidFill>
              <a:srgbClr val="89A6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D7EC1D-D1B0-41A6-9AB5-1E2AAEC3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790950"/>
            <a:ext cx="1276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89A6FF"/>
                </a:solidFill>
              </a:defRPr>
            </a:defPPr>
          </a:lstStyle>
          <a:p xmlns:a="http://schemas.openxmlformats.org/drawingml/2006/main">
            <a:pPr algn="ctr">
              <a:defRPr sz="750" b="1">
                <a:solidFill>
                  <a:srgbClr val="89A6FF"/>
                </a:solidFill>
              </a:defRPr>
            </a:pPr>
            <a:r>
              <a:rPr sz="750" b="1">
                <a:solidFill>
                  <a:srgbClr val="89A6FF"/>
                </a:solidFill>
              </a:rPr>
              <a:t>BALANCED TESTS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42E488-7E75-4885-9791-DF5D7327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771900"/>
            <a:ext cx="15811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12A42"/>
          </a:solidFill>
          <a:ln xmlns:a="http://schemas.openxmlformats.org/drawingml/2006/main" w="9525">
            <a:solidFill>
              <a:srgbClr val="FFBD7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D625D0-CDB0-4C00-B1B7-145D79BB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90950"/>
            <a:ext cx="1428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ctr">
              <a:defRPr sz="750" b="1">
                <a:solidFill>
                  <a:srgbClr val="FFBD7C"/>
                </a:solidFill>
              </a:defRPr>
            </a:pPr>
            <a:r>
              <a:rPr sz="750" b="1">
                <a:solidFill>
                  <a:srgbClr val="FFBD7C"/>
                </a:solidFill>
              </a:rPr>
              <a:t>NO EXACT OVERLAP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DE65AD-E5E0-4355-9525-5A2B3930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466850"/>
            <a:ext cx="4448175" cy="4210050"/>
          </a:xfrm>
          <a:prstGeom xmlns:a="http://schemas.openxmlformats.org/drawingml/2006/main" prst="roundRect">
            <a:avLst>
              <a:gd name="adj" fmla="val 1810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BB924-22F5-425D-96EF-209CAFB5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24025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64DCD3"/>
                </a:solidFill>
              </a:defRPr>
            </a:pPr>
            <a:r>
              <a:rPr sz="825" b="1">
                <a:solidFill>
                  <a:srgbClr val="64DCD3"/>
                </a:solidFill>
              </a:rPr>
              <a:t>CURRENT TRAINING SET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C9135C-D6AE-486B-B2B5-C4677759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09775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F6FAFF"/>
                </a:solidFill>
              </a:defRPr>
            </a:pPr>
            <a:r>
              <a:rPr sz="3600" b="1">
                <a:solidFill>
                  <a:srgbClr val="F6FAFF"/>
                </a:solidFill>
              </a:rPr>
              <a:t>11,383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DE6706-3E12-40AA-BA2B-DA96F7E1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908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ADBED4"/>
                </a:solidFill>
              </a:defRPr>
            </a:pPr>
            <a:r>
              <a:rPr sz="1050" b="0">
                <a:solidFill>
                  <a:srgbClr val="ADBED4"/>
                </a:solidFill>
              </a:rPr>
              <a:t>usable texts after cleaning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9FC0D6-C900-40C7-9047-46237607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0375"/>
            <a:ext cx="3790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8AAD00-8B6B-4D1E-9B05-F2600B4B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89A6FF"/>
                </a:solidFill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89A6FF"/>
                </a:solidFill>
              </a:defRPr>
            </a:pPr>
            <a:r>
              <a:rPr sz="2175" b="1">
                <a:solidFill>
                  <a:srgbClr val="89A6FF"/>
                </a:solidFill>
              </a:rPr>
              <a:t>5,706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2B55D9-2B41-4DD8-98F9-14599415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695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AI / mixed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B26BA8-9FEF-430A-92C1-330EC050E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95650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64DCD3"/>
                </a:solidFill>
              </a:defRPr>
            </a:pPr>
            <a:r>
              <a:rPr sz="2175" b="1">
                <a:solidFill>
                  <a:srgbClr val="64DCD3"/>
                </a:solidFill>
              </a:rPr>
              <a:t>5,677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43C079-A433-41D1-AE53-BE677114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695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Human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627FB8-ECA2-453E-A59D-0E9F0EB6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171950"/>
            <a:ext cx="3762375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2A42"/>
          </a:solidFill>
          <a:ln xmlns:a="http://schemas.openxmlformats.org/drawingml/2006/main" w="0">
            <a:solidFill>
              <a:srgbClr val="112A4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C32450-D287-4446-8011-8D1CC4B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171950"/>
            <a:ext cx="1885950" cy="857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9A6FF"/>
          </a:solidFill>
          <a:ln xmlns:a="http://schemas.openxmlformats.org/drawingml/2006/main" w="0">
            <a:solidFill>
              <a:srgbClr val="89A6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D7C5FD-0E64-43F6-9972-C63532426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495800"/>
            <a:ext cx="37814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11,420 raw texts   ·   37 removed by the 50-word rule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F10225-F73A-4928-A763-144ED25C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24450"/>
            <a:ext cx="37814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FFBD7C"/>
                </a:solidFill>
              </a:defRPr>
            </a:pPr>
            <a:r>
              <a:rPr sz="1050" b="1">
                <a:solidFill>
                  <a:srgbClr val="FFBD7C"/>
                </a:solidFill>
              </a:rPr>
              <a:t>Three untouched evaluation sets</a:t>
            </a:r>
          </a:p>
        </p:txBody>
      </p:sp>
    </p:spTree>
    <p:extLst>
      <p:ext uri="{BB962C8B-B14F-4D97-AF65-F5344CB8AC3E}">
        <p14:creationId xmlns:p14="http://schemas.microsoft.com/office/powerpoint/2010/main" val="16291989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4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678D32B-8BCA-4B05-923F-9E34B2FE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476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D16A2D-0AD6-44AF-AF18-B3E0E52C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NLP PROJECT · AI VS. HUMAN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D7E9B-B428-460C-B73C-FEA9E6BE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190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DATASETS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0D2BA-F187-48C7-9E59-131ACB40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190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F17DC1-6B07-4AC7-A507-1B7927D4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0810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6FAFF"/>
                </a:solidFill>
              </a:defRPr>
            </a:pPr>
            <a:r>
              <a:rPr sz="2250" b="1">
                <a:solidFill>
                  <a:srgbClr val="F6FAFF"/>
                </a:solidFill>
              </a:rPr>
              <a:t>DATASET DESIGN &amp; EVALUATION SETS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ADC3AE-80B6-4E47-8B96-6F599A24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1081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DBED4"/>
                </a:solidFill>
              </a:defRPr>
            </a:pPr>
            <a:r>
              <a:rPr sz="1125" b="0">
                <a:solidFill>
                  <a:srgbClr val="ADBED4"/>
                </a:solidFill>
              </a:rPr>
              <a:t>What we protected first: balance, topic matching, source separation, and zero exact overlap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0CC1EB-DA70-426E-B3B6-EC22FAA7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67475"/>
            <a:ext cx="1099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D3D2DD-9A59-4A77-96B1-81E06A1C3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6F879F"/>
                </a:solidFill>
              </a:defRPr>
            </a:pPr>
            <a:r>
              <a:rPr sz="675" b="0">
                <a:solidFill>
                  <a:srgbClr val="6F879F"/>
                </a:solidFill>
              </a:rPr>
              <a:t>AI vs. Human · Oct 2026 · Four-dataset benchmark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3978BA-788F-4CD7-A5C0-DA198C16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675" b="0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r">
              <a:defRPr sz="675" b="0">
                <a:solidFill>
                  <a:srgbClr val="6F879F"/>
                </a:solidFill>
              </a:defRPr>
            </a:pPr>
            <a:r>
              <a:rPr sz="675" b="0">
                <a:solidFill>
                  <a:srgbClr val="6F879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64C4B-50AC-4A0B-BD45-173321CB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64DCD3"/>
                </a:solidFill>
              </a:defRPr>
            </a:pPr>
            <a:r>
              <a:rPr sz="975" b="1">
                <a:solidFill>
                  <a:srgbClr val="64DCD3"/>
                </a:solidFill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C9C43-087B-47D3-A61D-166D77A0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38275"/>
            <a:ext cx="2143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F6FAFF"/>
                </a:solidFill>
              </a:defRPr>
            </a:pPr>
            <a:r>
              <a:rPr sz="900" b="1">
                <a:solidFill>
                  <a:srgbClr val="F6FAFF"/>
                </a:solidFill>
              </a:rPr>
              <a:t>MATCHED TOPICS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49226-3B70-458D-9F7A-3AAB2558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240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DBED4"/>
                </a:solidFill>
              </a:defRPr>
            </a:pPr>
            <a:r>
              <a:rPr sz="900" b="0">
                <a:solidFill>
                  <a:srgbClr val="ADBED4"/>
                </a:solidFill>
              </a:rPr>
              <a:t>Human and AI pairs discuss the same prompt or passage.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24BF62-4F86-4816-A13C-14892E21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4668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64DCD3"/>
                </a:solidFill>
              </a:defRPr>
            </a:pPr>
            <a:r>
              <a:rPr sz="975" b="1">
                <a:solidFill>
                  <a:srgbClr val="64DCD3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72F195-7116-4748-A569-15A679CE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438275"/>
            <a:ext cx="2143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F6FAFF"/>
                </a:solidFill>
              </a:defRPr>
            </a:pPr>
            <a:r>
              <a:rPr sz="900" b="1">
                <a:solidFill>
                  <a:srgbClr val="F6FAFF"/>
                </a:solidFill>
              </a:rPr>
              <a:t>BALANCED LABELS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DE6AC3-C9F4-497B-888E-10F4D071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240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DBED4"/>
                </a:solidFill>
              </a:defRPr>
            </a:pPr>
            <a:r>
              <a:rPr sz="900" b="0">
                <a:solidFill>
                  <a:srgbClr val="ADBED4"/>
                </a:solidFill>
              </a:rPr>
              <a:t>Each evaluation set contains equal AI and Human classes.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4DCEA7-55B9-4D7B-B5F7-06378E8F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668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64DCD3"/>
                </a:solidFill>
              </a:defRPr>
            </a:pPr>
            <a:r>
              <a:rPr sz="975" b="1">
                <a:solidFill>
                  <a:srgbClr val="64DCD3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7D72A3-D8EF-40BD-97A0-BD946E33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438275"/>
            <a:ext cx="2143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F6FAFF"/>
                </a:solidFill>
              </a:defRPr>
            </a:pPr>
            <a:r>
              <a:rPr sz="900" b="1">
                <a:solidFill>
                  <a:srgbClr val="F6FAFF"/>
                </a:solidFill>
              </a:rPr>
              <a:t>LEAKAGE CONTROL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891971-C5D8-41F7-A238-55A7D971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240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DBED4"/>
                </a:solidFill>
              </a:defRPr>
            </a:pPr>
            <a:r>
              <a:rPr sz="900" b="0">
                <a:solidFill>
                  <a:srgbClr val="ADBED4"/>
                </a:solidFill>
              </a:rPr>
              <a:t>Duplicates, matched pairs, and held-out source groups stay separated.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3A0285-B8FC-45BD-AF11-939B2DB0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668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64DCD3"/>
                </a:solidFill>
              </a:defRPr>
            </a:pPr>
            <a:r>
              <a:rPr sz="975" b="1">
                <a:solidFill>
                  <a:srgbClr val="64DCD3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08DE1E-BDF4-49A6-A486-E0BB5EA7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438275"/>
            <a:ext cx="2143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F6FAFF"/>
                </a:solidFill>
              </a:defRPr>
            </a:pPr>
            <a:r>
              <a:rPr sz="900" b="1">
                <a:solidFill>
                  <a:srgbClr val="F6FAFF"/>
                </a:solidFill>
              </a:rPr>
              <a:t>DIVERSE WRITING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E41A43-70D7-413C-AD9A-AC0F1E76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240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DBED4"/>
                </a:solidFill>
              </a:defRPr>
            </a:pPr>
            <a:r>
              <a:rPr sz="900" b="0">
                <a:solidFill>
                  <a:srgbClr val="ADBED4"/>
                </a:solidFill>
              </a:rPr>
              <a:t>Essays, Q&amp;A, literature, reports, papers, and mixed documents.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08D42F-573C-4A46-9B99-04A0060F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76475"/>
            <a:ext cx="1099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CFFD13-79EE-4FBD-A0A0-270F35C0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52700"/>
            <a:ext cx="5143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C0406A-EEAD-40F4-86F3-796E5BC4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52700"/>
            <a:ext cx="571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6345B6-DAAF-4F94-A018-B9F6B90C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64DCD3"/>
                </a:solidFill>
              </a:defRPr>
            </a:pPr>
            <a:r>
              <a:rPr sz="975" b="1">
                <a:solidFill>
                  <a:srgbClr val="64DCD3"/>
                </a:solidFill>
              </a:rPr>
              <a:t>TRAINING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27FCE1-5FBB-412C-BC64-B6B50343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95575"/>
            <a:ext cx="20669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F6FAFF"/>
                </a:solidFill>
              </a:defRPr>
            </a:pPr>
            <a:r>
              <a:rPr sz="1200" b="1">
                <a:solidFill>
                  <a:srgbClr val="F6FAFF"/>
                </a:solidFill>
              </a:rPr>
              <a:t>11,383 usable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2E4BBA-A3C3-4A44-9C76-76077488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466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6FAFF"/>
                </a:solidFill>
              </a:defRPr>
            </a:pPr>
            <a:r>
              <a:rPr sz="1200" b="1">
                <a:solidFill>
                  <a:srgbClr val="F6FAFF"/>
                </a:solidFill>
              </a:rPr>
              <a:t>Learn broad writing patterns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8581DD-8592-415A-AF43-44CDB011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Original corpus + matched Kaggle essays + HC3 + 3,009 Heterogeneous pairs. Includes standard AI and partially AI-written documents.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98ECD8-EE9A-45CE-B2C1-DEDC1BCE7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52700"/>
            <a:ext cx="5143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9EA0A0-34B3-4D5C-B23B-40BA840D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52700"/>
            <a:ext cx="571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9A6FF"/>
          </a:solidFill>
          <a:ln xmlns:a="http://schemas.openxmlformats.org/drawingml/2006/main" w="0">
            <a:solidFill>
              <a:srgbClr val="89A6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0D74DD-B7F6-4318-BD97-AF60B872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2415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89A6FF"/>
                </a:solidFill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89A6FF"/>
                </a:solidFill>
              </a:defRPr>
            </a:pPr>
            <a:r>
              <a:rPr sz="975" b="1">
                <a:solidFill>
                  <a:srgbClr val="89A6FF"/>
                </a:solidFill>
              </a:rPr>
              <a:t>EXTERNAL TEST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9B3DF3-31CC-4E92-999E-067C2660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95575"/>
            <a:ext cx="20669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F6FAFF"/>
                </a:solidFill>
              </a:defRPr>
            </a:pPr>
            <a:r>
              <a:rPr sz="1200" b="1">
                <a:solidFill>
                  <a:srgbClr val="F6FAFF"/>
                </a:solidFill>
              </a:rPr>
              <a:t>1,000 · 500 / 500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698319-E4EB-4D6B-BC50-1E46A6D6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67050"/>
            <a:ext cx="466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6FAFF"/>
                </a:solidFill>
              </a:defRPr>
            </a:pPr>
            <a:r>
              <a:rPr sz="1200" b="1">
                <a:solidFill>
                  <a:srgbClr val="F6FAFF"/>
                </a:solidFill>
              </a:rPr>
              <a:t>General unseen performance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B478AA-9FBF-4963-8ECE-2ACA00C3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Held-out Kaggle and HC3 samples. Balanced, topic-matched, and never used for vocabulary fitting or model choice.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1861AB-A46A-459D-B10F-33AA6F8E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29125"/>
            <a:ext cx="5143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BCB6BE-47FA-4000-9100-0AF395B6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29125"/>
            <a:ext cx="571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D7C"/>
          </a:solidFill>
          <a:ln xmlns:a="http://schemas.openxmlformats.org/drawingml/2006/main" w="0">
            <a:solidFill>
              <a:srgbClr val="FFBD7C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631F9F-939D-43F5-8C79-FCFB097F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FFBD7C"/>
                </a:solidFill>
              </a:defRPr>
            </a:pPr>
            <a:r>
              <a:rPr sz="975" b="1">
                <a:solidFill>
                  <a:srgbClr val="FFBD7C"/>
                </a:solidFill>
              </a:rPr>
              <a:t>HIP BOOKS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BB8597-C194-4046-80F0-31143A9B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72000"/>
            <a:ext cx="20669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F6FAFF"/>
                </a:solidFill>
              </a:defRPr>
            </a:pPr>
            <a:r>
              <a:rPr sz="1200" b="1">
                <a:solidFill>
                  <a:srgbClr val="F6FAFF"/>
                </a:solidFill>
              </a:rPr>
              <a:t>800 · 400 / 400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DA7232-C8A5-47AF-B1BA-883F5A52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466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6FAFF"/>
                </a:solidFill>
              </a:defRPr>
            </a:pPr>
            <a:r>
              <a:rPr sz="1200" b="1">
                <a:solidFill>
                  <a:srgbClr val="F6FAFF"/>
                </a:solidFill>
              </a:rPr>
              <a:t>Human-like literary 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1A4022A-61CF-4345-AA78-CCA5E226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Human book passages paired with AI paraphrases of the same content. Tests subtle, natural-looking AI writing.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38433E-72B6-4E1B-93D5-DE6EFC1D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29125"/>
            <a:ext cx="5143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48D4F5-8B73-4E31-9689-F5D2E996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29125"/>
            <a:ext cx="57150" cy="1562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3FD82FB-8CA7-4164-97E6-B7A29F49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005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64DCD3"/>
                </a:solidFill>
              </a:defRPr>
            </a:pPr>
            <a:r>
              <a:rPr sz="975" b="1">
                <a:solidFill>
                  <a:srgbClr val="64DCD3"/>
                </a:solidFill>
              </a:rPr>
              <a:t>HETEROGENEOUS SPANS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6A6EC0-117A-4B0A-913A-DD434184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572000"/>
            <a:ext cx="20669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F6FAFF"/>
                </a:solidFill>
              </a:defRPr>
            </a:pPr>
            <a:r>
              <a:rPr sz="1200" b="1">
                <a:solidFill>
                  <a:srgbClr val="F6FAFF"/>
                </a:solidFill>
              </a:rPr>
              <a:t>1,000 · 500 / 500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8A1E78-E405-493C-8981-7792628A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43475"/>
            <a:ext cx="4667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6FAFF"/>
                </a:solidFill>
              </a:defRPr>
            </a:pPr>
            <a:r>
              <a:rPr sz="1200" b="1">
                <a:solidFill>
                  <a:srgbClr val="F6FAFF"/>
                </a:solidFill>
              </a:rPr>
              <a:t>Partial AI inside long documents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459F11-73C5-44D4-ACCA-59FAB545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67325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Mixed-authorship texts paired with human controls. All 123 source groups are excluded from training.</a:t>
            </a:r>
          </a:p>
        </p:txBody>
      </p:sp>
    </p:spTree>
    <p:extLst>
      <p:ext uri="{BB962C8B-B14F-4D97-AF65-F5344CB8AC3E}">
        <p14:creationId xmlns:p14="http://schemas.microsoft.com/office/powerpoint/2010/main" val="9392923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4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3C65A1B-B042-445C-81D0-C5AD2A69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476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660842-99AF-42A0-A2A8-465EE440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NLP PROJECT · AI VS. HUMAN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313C59-9D6E-4BEA-859E-24470DDC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190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PIPELINE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5D12DB-4977-434D-9C76-7E465D213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190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AA2C6D-8C0C-43E1-B60F-86B278BC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0810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6FAFF"/>
                </a:solidFill>
              </a:defRPr>
            </a:pPr>
            <a:r>
              <a:rPr sz="2250" b="1">
                <a:solidFill>
                  <a:srgbClr val="F6FAFF"/>
                </a:solidFill>
              </a:rPr>
              <a:t>FROM RAW TEXT TO FINAL EVALUATION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3199A-9669-45E0-A15A-79599820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1081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DBED4"/>
                </a:solidFill>
              </a:defRPr>
            </a:pPr>
            <a:r>
              <a:rPr sz="1125" b="0">
                <a:solidFill>
                  <a:srgbClr val="ADBED4"/>
                </a:solidFill>
              </a:rPr>
              <a:t>A controlled sequence; held-out test sets are opened only after model selection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2045F-854D-4919-9154-B631340C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67475"/>
            <a:ext cx="1099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73EF9-BB8A-4113-8454-23F8BD11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6F879F"/>
                </a:solidFill>
              </a:defRPr>
            </a:pPr>
            <a:r>
              <a:rPr sz="675" b="0">
                <a:solidFill>
                  <a:srgbClr val="6F879F"/>
                </a:solidFill>
              </a:rPr>
              <a:t>AI vs. Human · Oct 2026 · Four-dataset benchmark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D49DD5-F678-4C9D-A677-02E2A5A2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675" b="0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r">
              <a:defRPr sz="675" b="0">
                <a:solidFill>
                  <a:srgbClr val="6F879F"/>
                </a:solidFill>
              </a:defRPr>
            </a:pPr>
            <a:r>
              <a:rPr sz="675" b="0">
                <a:solidFill>
                  <a:srgbClr val="6F879F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C54E48-1842-4ED9-9CB1-05B26CE5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1914525" cy="2886075"/>
          </a:xfrm>
          <a:prstGeom xmlns:a="http://schemas.openxmlformats.org/drawingml/2006/main" prst="roundRect">
            <a:avLst>
              <a:gd name="adj" fmla="val 3980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9CB003-6DC4-451E-9A6E-5703E1CF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A4BD0-01A1-49BD-B179-8DD21066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716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071421"/>
                </a:solidFill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071421"/>
                </a:solidFill>
              </a:defRPr>
            </a:pPr>
            <a:r>
              <a:rPr sz="975" b="1">
                <a:solidFill>
                  <a:srgbClr val="071421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A917DA-D3CC-4345-B468-ADD94B886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050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LOAD &amp; CLEAN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1CAA54-6424-4B07-98DE-E3EDEF52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14675"/>
            <a:ext cx="1571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3DF09-8EE3-4503-827F-1361A28A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05175"/>
            <a:ext cx="1581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Standardize columns</a:t>
            </a:r>
          </a:p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Remove empty text</a:t>
            </a:r>
          </a:p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Apply 50-word rule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617A-E8C6-4361-949D-78B95FEC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5277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4158"/>
          </a:solidFill>
          <a:ln xmlns:a="http://schemas.openxmlformats.org/drawingml/2006/main" w="0">
            <a:solidFill>
              <a:srgbClr val="2A41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40DF65-2BFC-4254-A47C-55EE2B9B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33550"/>
            <a:ext cx="1914525" cy="2886075"/>
          </a:xfrm>
          <a:prstGeom xmlns:a="http://schemas.openxmlformats.org/drawingml/2006/main" prst="roundRect">
            <a:avLst>
              <a:gd name="adj" fmla="val 3980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221AC3-E32B-446E-B8D1-9F6D58AD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240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46EDAA-972B-42B2-B8F4-B51AD7C1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716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071421"/>
                </a:solidFill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071421"/>
                </a:solidFill>
              </a:defRPr>
            </a:pPr>
            <a:r>
              <a:rPr sz="975" b="1">
                <a:solidFill>
                  <a:srgbClr val="071421"/>
                </a:solidFill>
              </a:rPr>
              <a:t>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E7EF6D-D967-4EEA-AC02-F8E60DFC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050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CHECK LEAKAGE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29B34F-F3E7-49AE-8CC0-3159FCB3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14675"/>
            <a:ext cx="1571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14C524-3AA9-44A9-91F3-31010F9F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05175"/>
            <a:ext cx="1581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Remove duplicates</a:t>
            </a:r>
          </a:p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Check cross-set overlap</a:t>
            </a:r>
          </a:p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Keep pairs together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AF57F7-1E62-4F20-BB09-211351D4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5277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4158"/>
          </a:solidFill>
          <a:ln xmlns:a="http://schemas.openxmlformats.org/drawingml/2006/main" w="0">
            <a:solidFill>
              <a:srgbClr val="2A415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FEE67F-9D2D-4920-91BD-86737E59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733550"/>
            <a:ext cx="1914525" cy="2886075"/>
          </a:xfrm>
          <a:prstGeom xmlns:a="http://schemas.openxmlformats.org/drawingml/2006/main" prst="roundRect">
            <a:avLst>
              <a:gd name="adj" fmla="val 3980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3F15D-A5B1-4551-92F2-65E544821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240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59049B-AC43-40DC-B5D1-0FB7BF49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716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071421"/>
                </a:solidFill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071421"/>
                </a:solidFill>
              </a:defRPr>
            </a:pPr>
            <a:r>
              <a:rPr sz="975" b="1">
                <a:solidFill>
                  <a:srgbClr val="071421"/>
                </a:solidFill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FBBEDB-A35E-4075-9091-8E95B618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050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REPRESENT TEXT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F9CCF-00ED-42D0-8E5F-8CAA4F17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114675"/>
            <a:ext cx="1571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C5D5AA-1CE2-493A-8ED2-0A413BDD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05175"/>
            <a:ext cx="1581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Word TF-IDF</a:t>
            </a:r>
          </a:p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Unigrams + bigrams</a:t>
            </a:r>
          </a:p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Optional 6 style features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F55DA5-9E5B-4EE4-9F9D-4753FA40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5277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4158"/>
          </a:solidFill>
          <a:ln xmlns:a="http://schemas.openxmlformats.org/drawingml/2006/main" w="0">
            <a:solidFill>
              <a:srgbClr val="2A41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0205E8-A993-483F-8824-A7708A0D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733550"/>
            <a:ext cx="1914525" cy="2886075"/>
          </a:xfrm>
          <a:prstGeom xmlns:a="http://schemas.openxmlformats.org/drawingml/2006/main" prst="roundRect">
            <a:avLst>
              <a:gd name="adj" fmla="val 3980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DAEF2B-82C7-43D0-BC26-3562CCD6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240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793B81-7C02-49B1-9127-C8796E6C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716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071421"/>
                </a:solidFill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071421"/>
                </a:solidFill>
              </a:defRPr>
            </a:pPr>
            <a:r>
              <a:rPr sz="975" b="1">
                <a:solidFill>
                  <a:srgbClr val="071421"/>
                </a:solidFill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8A95EA-5745-43F3-B5C6-759FA0AE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050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SELECT MODEL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A7784B-8303-41BD-87B4-D6AAAC7A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14675"/>
            <a:ext cx="1571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BD225C-05F6-46B0-ABD1-33CFE4BD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305175"/>
            <a:ext cx="1581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7 candidate settings</a:t>
            </a:r>
          </a:p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Pair-aware 5-fold CV</a:t>
            </a:r>
          </a:p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Rank by Macro-F1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AEBBED-2E6C-4C03-A725-1E0E261A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5277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4158"/>
          </a:solidFill>
          <a:ln xmlns:a="http://schemas.openxmlformats.org/drawingml/2006/main" w="0">
            <a:solidFill>
              <a:srgbClr val="2A41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579F93-CFBD-4CAB-95AB-2EBFA46D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33550"/>
            <a:ext cx="1914525" cy="2886075"/>
          </a:xfrm>
          <a:prstGeom xmlns:a="http://schemas.openxmlformats.org/drawingml/2006/main" prst="roundRect">
            <a:avLst>
              <a:gd name="adj" fmla="val 3980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2DFF24-AF91-471C-BA2A-2A7D2976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92405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BD7C"/>
          </a:solidFill>
          <a:ln xmlns:a="http://schemas.openxmlformats.org/drawingml/2006/main" w="0">
            <a:solidFill>
              <a:srgbClr val="FFBD7C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5F63FC-F537-4839-93F5-E5FC3FB6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9716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071421"/>
                </a:solidFill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071421"/>
                </a:solidFill>
              </a:defRPr>
            </a:pPr>
            <a:r>
              <a:rPr sz="975" b="1">
                <a:solidFill>
                  <a:srgbClr val="071421"/>
                </a:solidFill>
              </a:rPr>
              <a:t>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1434AA3-13D3-45F1-AB26-131AB628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505075"/>
            <a:ext cx="1581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FINAL EVALUATION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2A0B6E-6CFC-42B3-B83B-F2028778D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114675"/>
            <a:ext cx="1571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450D98-4F4A-4D44-B6FC-975CE2AA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305175"/>
            <a:ext cx="1581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Refit on all training data</a:t>
            </a:r>
          </a:p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External + HIP + Heterogeneous</a:t>
            </a:r>
          </a:p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Report, do not tune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01A7C2-1CB3-466A-9B0D-0327B7F0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10150"/>
            <a:ext cx="108299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12A42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539F247-F4ED-4790-AEC4-6A9A595B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006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FFBD7C"/>
                </a:solidFill>
              </a:defRPr>
            </a:pPr>
            <a:r>
              <a:rPr sz="825" b="1">
                <a:solidFill>
                  <a:srgbClr val="FFBD7C"/>
                </a:solidFill>
              </a:rPr>
              <a:t>KEY RULE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FC04F9B-BA4F-460D-871C-BD40F5FE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143500"/>
            <a:ext cx="4619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6FAFF"/>
                </a:solidFill>
              </a:defRPr>
            </a:pPr>
            <a:r>
              <a:rPr sz="1275" b="1">
                <a:solidFill>
                  <a:srgbClr val="F6FAFF"/>
                </a:solidFill>
              </a:rPr>
              <a:t>Cross-validation chooses the model inside the training set.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1EEDA2B-7855-41D5-A012-3F81E85E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467350"/>
            <a:ext cx="8582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ADBED4"/>
                </a:solidFill>
              </a:defRPr>
            </a:pPr>
            <a:r>
              <a:rPr sz="1050" b="0">
                <a:solidFill>
                  <a:srgbClr val="ADBED4"/>
                </a:solidFill>
              </a:rPr>
              <a:t>The three external datasets measure generalization afterward; they never influence the model choice.</a:t>
            </a:r>
          </a:p>
        </p:txBody>
      </p:sp>
    </p:spTree>
    <p:extLst>
      <p:ext uri="{BB962C8B-B14F-4D97-AF65-F5344CB8AC3E}">
        <p14:creationId xmlns:p14="http://schemas.microsoft.com/office/powerpoint/2010/main" val="19398386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4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481C161-CEBD-4DF8-BDF4-A53F7BA5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476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10225-B596-4307-9447-2E2BDDED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NLP PROJECT · AI VS. HUMAN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870D4C-4E51-4D6A-BB25-A3CAA62F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190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FC566-9C21-49E1-BDAB-75E453EB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190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0F631-B264-490C-95CF-07DBD172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0810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6FAFF"/>
                </a:solidFill>
              </a:defRPr>
            </a:pPr>
            <a:r>
              <a:rPr sz="2250" b="1">
                <a:solidFill>
                  <a:srgbClr val="F6FAFF"/>
                </a:solidFill>
              </a:rPr>
              <a:t>MODEL AND TEST BENCHMARKS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75E4B5-DCB3-4CEE-BF8E-D9E74E02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1081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DBED4"/>
                </a:solidFill>
              </a:defRPr>
            </a:pPr>
            <a:r>
              <a:rPr sz="1125" b="0">
                <a:solidFill>
                  <a:srgbClr val="ADBED4"/>
                </a:solidFill>
              </a:rPr>
              <a:t>Current run · the seven candidates share the same pair-aware five-fold splits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F749E-E099-459E-99D0-6AD7B999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67475"/>
            <a:ext cx="1099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7D8FDE-C72C-409E-B0E3-31D64B99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6F879F"/>
                </a:solidFill>
              </a:defRPr>
            </a:pPr>
            <a:r>
              <a:rPr sz="675" b="0">
                <a:solidFill>
                  <a:srgbClr val="6F879F"/>
                </a:solidFill>
              </a:rPr>
              <a:t>AI vs. Human · Oct 2026 · Four-dataset benchmark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1F49DD-4FA6-4A3C-9DC6-630C8A99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675" b="0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r">
              <a:defRPr sz="675" b="0">
                <a:solidFill>
                  <a:srgbClr val="6F879F"/>
                </a:solidFill>
              </a:defRPr>
            </a:pPr>
            <a:r>
              <a:rPr sz="675" b="0">
                <a:solidFill>
                  <a:srgbClr val="6F879F"/>
                </a:solidFill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5DEB4E-28A5-4E6E-88BF-73AF5AB6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38275"/>
            <a:ext cx="5905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64DCD3"/>
                </a:solidFill>
              </a:defRPr>
            </a:pPr>
            <a:r>
              <a:rPr sz="900" b="1">
                <a:solidFill>
                  <a:srgbClr val="64DCD3"/>
                </a:solidFill>
              </a:rPr>
              <a:t>TRAINING CV · MACRO-F1</a:t>
            </a:r>
          </a:p>
        </p:txBody>
      </p:sp>
      <p:graphicFrame>
        <p:nvGraphicFramePr>
          <p:cNvPr id="11" name="Chart">
            <a:extLst xmlns:a="http://schemas.openxmlformats.org/drawingml/2006/main">
              <a:ext uri="{FF2B5EF4-FFF2-40B4-BE49-F238E27FC236}">
                <a16:creationId xmlns:a16="http://schemas.microsoft.com/office/drawing/2014/main" id="{62402665-0A56-4883-AA1B-85EC91B4776A}"/>
              </a:ext>
            </a:extLst>
          </p:cNvPr>
          <p:cNvGraphicFramePr/>
          <p:nvPr/>
        </p:nvGraphicFramePr>
        <p:xfrm>
          <a:off xmlns:a="http://schemas.openxmlformats.org/drawingml/2006/main" x="304800" y="1685925"/>
          <a:ext xmlns:a="http://schemas.openxmlformats.org/drawingml/2006/main" cx="7543800" cy="33432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4bf6c499b244a6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F07BA8-8499-46AB-8105-2B039411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38275"/>
            <a:ext cx="3352800" cy="3590925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2589BA-EC6E-422C-B49F-A0AEF24F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57350"/>
            <a:ext cx="281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64DCD3"/>
                </a:solidFill>
              </a:defRPr>
            </a:pPr>
            <a:r>
              <a:rPr sz="825" b="1">
                <a:solidFill>
                  <a:srgbClr val="64DCD3"/>
                </a:solidFill>
              </a:rPr>
              <a:t>SELECTED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087610-B01C-4EAB-B9E5-8FEDACCD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43100"/>
            <a:ext cx="2819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6FAFF"/>
                </a:solidFill>
              </a:defRPr>
            </a:pPr>
            <a:r>
              <a:rPr sz="2025" b="1">
                <a:solidFill>
                  <a:srgbClr val="F6FAFF"/>
                </a:solidFill>
              </a:rPr>
              <a:t>Linear SVM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95CAF-6ECE-4ED2-A5B0-519571AB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05050"/>
            <a:ext cx="281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ADBED4"/>
                </a:solidFill>
              </a:defRPr>
            </a:pPr>
            <a:r>
              <a:rPr sz="1050" b="0">
                <a:solidFill>
                  <a:srgbClr val="ADBED4"/>
                </a:solidFill>
              </a:rPr>
              <a:t>TF-IDF + 6 linguistic features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7699E1-3E5E-41F6-928C-C39164B7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2415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610C3D-5162-46DA-9975-37B956E5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95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FFBD7C"/>
                </a:solidFill>
              </a:defRPr>
            </a:pPr>
            <a:r>
              <a:rPr sz="825" b="1">
                <a:solidFill>
                  <a:srgbClr val="FFBD7C"/>
                </a:solidFill>
              </a:rPr>
              <a:t>HELD-OUT TESTS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A04487-D545-4372-8ABE-9332D4E8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8956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675" b="1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r">
              <a:defRPr sz="675" b="1">
                <a:solidFill>
                  <a:srgbClr val="6F879F"/>
                </a:solidFill>
              </a:defRPr>
            </a:pPr>
            <a:r>
              <a:rPr sz="675" b="1">
                <a:solidFill>
                  <a:srgbClr val="6F879F"/>
                </a:solidFill>
              </a:rPr>
              <a:t>ACCURACY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770620-DD88-4436-96F2-BC67D400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8956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675" b="1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r">
              <a:defRPr sz="675" b="1">
                <a:solidFill>
                  <a:srgbClr val="6F879F"/>
                </a:solidFill>
              </a:defRPr>
            </a:pPr>
            <a:r>
              <a:rPr sz="675" b="1">
                <a:solidFill>
                  <a:srgbClr val="6F879F"/>
                </a:solidFill>
              </a:rPr>
              <a:t>MACRO-F1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46B84D-5AB8-4E74-873F-3DDC498B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28975"/>
            <a:ext cx="13049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ADBED4"/>
                </a:solidFill>
              </a:defRPr>
            </a:pPr>
            <a:r>
              <a:rPr sz="825" b="1">
                <a:solidFill>
                  <a:srgbClr val="ADBED4"/>
                </a:solidFill>
              </a:rPr>
              <a:t>EXTERNAL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456CF0-E5FF-486F-9191-4FABB218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19450"/>
            <a:ext cx="7334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64DCD3"/>
                </a:solidFill>
              </a:defRPr>
            </a:pPr>
            <a:r>
              <a:rPr sz="1050" b="1">
                <a:solidFill>
                  <a:srgbClr val="64DCD3"/>
                </a:solidFill>
              </a:rPr>
              <a:t>89.60%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FD85F7-289C-4101-9E5A-81C14855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219450"/>
            <a:ext cx="7334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64DCD3"/>
                </a:solidFill>
              </a:defRPr>
            </a:pPr>
            <a:r>
              <a:rPr sz="1050" b="1">
                <a:solidFill>
                  <a:srgbClr val="64DCD3"/>
                </a:solidFill>
              </a:rPr>
              <a:t>89.60%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8D2A8-B77E-42E2-837A-C810E64F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571875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E05DB6-FAB5-4336-A771-B2AB1781E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762375"/>
            <a:ext cx="13049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ADBED4"/>
                </a:solidFill>
              </a:defRPr>
            </a:pPr>
            <a:r>
              <a:rPr sz="825" b="1">
                <a:solidFill>
                  <a:srgbClr val="ADBED4"/>
                </a:solidFill>
              </a:rPr>
              <a:t>HIP BOOKS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F262D8-6CCE-4D5D-AFB8-123CC7C0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52850"/>
            <a:ext cx="7334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FFBD7C"/>
                </a:solidFill>
              </a:defRPr>
            </a:pPr>
            <a:r>
              <a:rPr sz="1050" b="1">
                <a:solidFill>
                  <a:srgbClr val="FFBD7C"/>
                </a:solidFill>
              </a:rPr>
              <a:t>72.38%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18CB0C-CF5C-4DC2-8364-844DADBC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3752850"/>
            <a:ext cx="7334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FFBD7C"/>
                </a:solidFill>
              </a:defRPr>
            </a:pPr>
            <a:r>
              <a:rPr sz="1050" b="1">
                <a:solidFill>
                  <a:srgbClr val="FFBD7C"/>
                </a:solidFill>
              </a:rPr>
              <a:t>72.17%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E75578-B764-429F-B40A-AC371C00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05275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16C665-0E49-4280-B539-33849B81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95775"/>
            <a:ext cx="13049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ADBED4"/>
                </a:solidFill>
              </a:defRPr>
            </a:pPr>
            <a:r>
              <a:rPr sz="825" b="1">
                <a:solidFill>
                  <a:srgbClr val="ADBED4"/>
                </a:solidFill>
              </a:rPr>
              <a:t>HETEROGENEOUS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2426CB-6846-46E9-8916-C1ACD502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86250"/>
            <a:ext cx="7334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89A6FF"/>
                </a:solidFill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89A6FF"/>
                </a:solidFill>
              </a:defRPr>
            </a:pPr>
            <a:r>
              <a:rPr sz="1050" b="1">
                <a:solidFill>
                  <a:srgbClr val="89A6FF"/>
                </a:solidFill>
              </a:rPr>
              <a:t>86.10%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89BEAB-831E-4AD5-B118-41E5CFEA9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4286250"/>
            <a:ext cx="7334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050" b="1">
                <a:solidFill>
                  <a:srgbClr val="89A6FF"/>
                </a:solidFill>
              </a:defRPr>
            </a:defPPr>
          </a:lstStyle>
          <a:p xmlns:a="http://schemas.openxmlformats.org/drawingml/2006/main">
            <a:pPr algn="r">
              <a:defRPr sz="1050" b="1">
                <a:solidFill>
                  <a:srgbClr val="89A6FF"/>
                </a:solidFill>
              </a:defRPr>
            </a:pPr>
            <a:r>
              <a:rPr sz="1050" b="1">
                <a:solidFill>
                  <a:srgbClr val="89A6FF"/>
                </a:solidFill>
              </a:rPr>
              <a:t>86.10%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DCED6B-C5A5-45A1-AFD1-D86A3476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0829925" cy="866775"/>
          </a:xfrm>
          <a:prstGeom xmlns:a="http://schemas.openxmlformats.org/drawingml/2006/main" prst="roundRect">
            <a:avLst>
              <a:gd name="adj" fmla="val 8791"/>
            </a:avLst>
          </a:prstGeom>
          <a:solidFill xmlns:a="http://schemas.openxmlformats.org/drawingml/2006/main">
            <a:srgbClr val="112A42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AC51C8-B10F-48FE-88EA-299141D63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62575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FFBD7C"/>
                </a:solidFill>
              </a:defRPr>
            </a:pPr>
            <a:r>
              <a:rPr sz="825" b="1">
                <a:solidFill>
                  <a:srgbClr val="FFBD7C"/>
                </a:solidFill>
              </a:rPr>
              <a:t>50 vs. 100 WORDS · MACRO-F1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04680B-62A4-4C9E-A650-E609C237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53149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675" b="1">
                <a:solidFill>
                  <a:srgbClr val="ADBED4"/>
                </a:solidFill>
              </a:defRPr>
            </a:pPr>
            <a:r>
              <a:rPr sz="675" b="1">
                <a:solidFill>
                  <a:srgbClr val="ADBED4"/>
                </a:solidFill>
              </a:rPr>
              <a:t>TRAINING CV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6EF096-CAAA-4FDD-84A8-63850D6A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5514975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89.71 / 89.66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AE7857-2506-4085-9D61-FAFD3321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3149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675" b="1">
                <a:solidFill>
                  <a:srgbClr val="ADBED4"/>
                </a:solidFill>
              </a:defRPr>
            </a:pPr>
            <a:r>
              <a:rPr sz="675" b="1">
                <a:solidFill>
                  <a:srgbClr val="ADBED4"/>
                </a:solidFill>
              </a:rPr>
              <a:t>EXTERNAL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D7E206E-E70D-483D-99F1-944E0DB4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5514975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89.60 / 88.46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786685-2115-4163-B5A1-A09206D1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3149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675" b="1">
                <a:solidFill>
                  <a:srgbClr val="ADBED4"/>
                </a:solidFill>
              </a:defRPr>
            </a:pPr>
            <a:r>
              <a:rPr sz="675" b="1">
                <a:solidFill>
                  <a:srgbClr val="ADBED4"/>
                </a:solidFill>
              </a:rPr>
              <a:t>HIP BOOKS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ED1E67A-D350-4ACE-A393-D40AAA03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5514975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72.17 / 75.65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33068B-D618-437B-8073-03687C58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3149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675" b="1">
                <a:solidFill>
                  <a:srgbClr val="ADBED4"/>
                </a:solidFill>
              </a:defRPr>
            </a:pPr>
            <a:r>
              <a:rPr sz="675" b="1">
                <a:solidFill>
                  <a:srgbClr val="ADBED4"/>
                </a:solidFill>
              </a:rPr>
              <a:t>HETEROGENEOUS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0983304-ACAE-4A79-9001-6CB7D115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514975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86.10 / 86.30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DD6749-D604-4E3E-8398-4674EA31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91200"/>
            <a:ext cx="1038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825" b="0">
                <a:solidFill>
                  <a:srgbClr val="ADBED4"/>
                </a:solidFill>
              </a:defRPr>
            </a:pPr>
            <a:r>
              <a:rPr sz="825" b="0">
                <a:solidFill>
                  <a:srgbClr val="ADBED4"/>
                </a:solidFill>
              </a:rPr>
              <a:t>The 50-word setting stays primary because it preserves more short human texts and performs better on CV and the external test.</a:t>
            </a:r>
          </a:p>
        </p:txBody>
      </p:sp>
    </p:spTree>
    <p:extLst>
      <p:ext uri="{BB962C8B-B14F-4D97-AF65-F5344CB8AC3E}">
        <p14:creationId xmlns:p14="http://schemas.microsoft.com/office/powerpoint/2010/main" val="274929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4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5AB8E4-856C-4665-B0ED-CF2CF6CA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47650"/>
            <a:ext cx="476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DCD3"/>
          </a:solidFill>
          <a:ln xmlns:a="http://schemas.openxmlformats.org/drawingml/2006/main" w="0">
            <a:solidFill>
              <a:srgbClr val="64DCD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58582-D256-494D-86EA-D9E0DCC67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07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NLP PROJECT · AI VS. HUMAN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00013-414E-4914-BF4E-B4B8AF889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190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INTERPRETATION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A3B79-FD60-4034-8AB5-E3397A09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219075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750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r">
              <a:defRPr sz="750" b="1">
                <a:solidFill>
                  <a:srgbClr val="ADBED4"/>
                </a:solidFill>
              </a:defRPr>
            </a:pPr>
            <a:r>
              <a:rPr sz="750" b="1">
                <a:solidFill>
                  <a:srgbClr val="ADBED4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069A67-E665-4C1D-9FA8-7F10F1F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0810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6FAFF"/>
                </a:solidFill>
              </a:defRPr>
            </a:pPr>
            <a:r>
              <a:rPr sz="2250" b="1">
                <a:solidFill>
                  <a:srgbClr val="F6FAFF"/>
                </a:solidFill>
              </a:rPr>
              <a:t>WHY LINEAR SVM WON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BD25C1-1795-4E09-962A-C32B4437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1081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ADBED4"/>
                </a:solidFill>
              </a:defRPr>
            </a:pPr>
            <a:r>
              <a:rPr sz="1125" b="0">
                <a:solidFill>
                  <a:srgbClr val="ADBED4"/>
                </a:solidFill>
              </a:rPr>
              <a:t>The winning configuration is the best among the seven tested candidates—not a universal authorship detector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10383-0219-481A-A6EB-DA004509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67475"/>
            <a:ext cx="1099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488E6-6791-489C-AE84-492B5707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675" b="0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l">
              <a:defRPr sz="675" b="0">
                <a:solidFill>
                  <a:srgbClr val="6F879F"/>
                </a:solidFill>
              </a:defRPr>
            </a:pPr>
            <a:r>
              <a:rPr sz="675" b="0">
                <a:solidFill>
                  <a:srgbClr val="6F879F"/>
                </a:solidFill>
              </a:rPr>
              <a:t>AI vs. Human · Oct 2026 · Four-dataset benchmark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3C6C7-9EEF-4066-A82E-D2613210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675" b="0">
                <a:solidFill>
                  <a:srgbClr val="6F879F"/>
                </a:solidFill>
              </a:defRPr>
            </a:defPPr>
          </a:lstStyle>
          <a:p xmlns:a="http://schemas.openxmlformats.org/drawingml/2006/main">
            <a:pPr algn="r">
              <a:defRPr sz="675" b="0">
                <a:solidFill>
                  <a:srgbClr val="6F879F"/>
                </a:solidFill>
              </a:defRPr>
            </a:pPr>
            <a:r>
              <a:rPr sz="675" b="0">
                <a:solidFill>
                  <a:srgbClr val="6F879F"/>
                </a:solidFill>
              </a:rPr>
              <a:t>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89B152-1EB3-4707-A860-8254291C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85900"/>
            <a:ext cx="3381375" cy="393382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19050">
            <a:solidFill>
              <a:srgbClr val="64DCD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131F83-94C5-4C97-87E1-42D8DDC7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049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64DCD3"/>
                </a:solidFill>
              </a:defRPr>
            </a:pPr>
            <a:r>
              <a:rPr sz="825" b="1">
                <a:solidFill>
                  <a:srgbClr val="64DCD3"/>
                </a:solidFill>
              </a:rPr>
              <a:t>WINNER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FBE99-713A-4B22-BA20-3BC0373D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F6FAFF"/>
                </a:solidFill>
              </a:defRPr>
            </a:pPr>
            <a:r>
              <a:rPr sz="2025" b="1">
                <a:solidFill>
                  <a:srgbClr val="F6FAFF"/>
                </a:solidFill>
              </a:rPr>
              <a:t>LINEAR SVM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5308D8-A545-47DF-9224-8A1E3F4C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90775"/>
            <a:ext cx="276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64DCD3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64DCD3"/>
                </a:solidFill>
              </a:defRPr>
            </a:pPr>
            <a:r>
              <a:rPr sz="1425" b="1">
                <a:solidFill>
                  <a:srgbClr val="64DCD3"/>
                </a:solidFill>
              </a:rPr>
              <a:t>89.71% CV Macro-F1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197322-EFB2-44E3-A930-DC3BA0E9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"/>
            <a:ext cx="28670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ABC47A-BB9C-42EB-B685-B2C1BD80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76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ADBED4"/>
                </a:solidFill>
              </a:defRPr>
            </a:pPr>
            <a:r>
              <a:rPr sz="825" b="1">
                <a:solidFill>
                  <a:srgbClr val="ADBED4"/>
                </a:solidFill>
              </a:rPr>
              <a:t>WHY IT FITS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4811E0-CE00-437C-A006-EDE2A129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52800"/>
            <a:ext cx="2762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High-dimensional sparse TF-IDF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48AFE4-C08E-4B1B-8865-838BE9BD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05225"/>
            <a:ext cx="2762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Margin-based separation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F0BD70-77A6-4578-BDFE-E1B3DA5C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57650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Strong with many correlated text features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1A57D7-A403-4718-94C8-8F7EDDB5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Stop words stayed: function words carry style signals.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8CCDE-70B5-4058-8DDB-6098C853C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1485900"/>
            <a:ext cx="3381375" cy="3933825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CDB729-6644-4A3E-91A0-C9715AFD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0497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89A6FF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89A6FF"/>
                </a:solidFill>
              </a:defRPr>
            </a:pPr>
            <a:r>
              <a:rPr sz="825" b="1">
                <a:solidFill>
                  <a:srgbClr val="89A6FF"/>
                </a:solidFill>
              </a:rPr>
              <a:t>STRONG ALTERNATIVE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71A582-F99F-4A93-9BFD-5E2E02F8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0002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6FAFF"/>
                </a:solidFill>
              </a:defRPr>
            </a:pPr>
            <a:r>
              <a:rPr sz="1725" b="1">
                <a:solidFill>
                  <a:srgbClr val="F6FAFF"/>
                </a:solidFill>
              </a:rPr>
              <a:t>LOGISTIC REGRESSION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1B80EA-C14E-4C6E-8BC0-A099E2F3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90775"/>
            <a:ext cx="2762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89A6FF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89A6FF"/>
                </a:solidFill>
              </a:defRPr>
            </a:pPr>
            <a:r>
              <a:rPr sz="1425" b="1">
                <a:solidFill>
                  <a:srgbClr val="89A6FF"/>
                </a:solidFill>
              </a:rPr>
              <a:t>87.43% CV Macro-F1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04735B-E1DD-47AB-AE3B-7F3B99B5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67025"/>
            <a:ext cx="28670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75A678-2BA8-46A4-9BDE-8B5B1379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0765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ADBED4"/>
                </a:solidFill>
              </a:defRPr>
            </a:pPr>
            <a:r>
              <a:rPr sz="825" b="1">
                <a:solidFill>
                  <a:srgbClr val="ADBED4"/>
                </a:solidFill>
              </a:rPr>
              <a:t>WHAT WE LEARNED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25C055-CDF0-423B-B254-7D080BC6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528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Works well on sparse linear text data.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BAA0D2-78AD-48E1-82E7-A2485CC8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0525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Still below SVM on the same folds.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ADC120-5BDE-43D3-8524-6F0FD722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562475"/>
            <a:ext cx="276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Adding six linguistic features slightly reduced its score.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5BF4EE-B5E6-465B-84E6-0FE5D90D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485900"/>
            <a:ext cx="3733800" cy="3933825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0E2135"/>
          </a:solidFill>
          <a:ln xmlns:a="http://schemas.openxmlformats.org/drawingml/2006/main" w="9525">
            <a:solidFill>
              <a:srgbClr val="FFBD7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23984B-6F4B-4777-B912-D999FEAA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049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FFBD7C"/>
                </a:solidFill>
              </a:defRPr>
            </a:pPr>
            <a:r>
              <a:rPr sz="825" b="1">
                <a:solidFill>
                  <a:srgbClr val="FFBD7C"/>
                </a:solidFill>
              </a:rPr>
              <a:t>BASELINE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18A4C9-25C9-4605-ADD2-112F08DE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002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950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6FAFF"/>
                </a:solidFill>
              </a:defRPr>
            </a:pPr>
            <a:r>
              <a:rPr sz="1950" b="1">
                <a:solidFill>
                  <a:srgbClr val="F6FAFF"/>
                </a:solidFill>
              </a:rPr>
              <a:t>NAIVE BAYES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672FA2-BC28-4565-9F84-C24FB5FC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90775"/>
            <a:ext cx="3143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FFBD7C"/>
                </a:solidFill>
              </a:defRPr>
            </a:pPr>
            <a:r>
              <a:rPr sz="1425" b="1">
                <a:solidFill>
                  <a:srgbClr val="FFBD7C"/>
                </a:solidFill>
              </a:rPr>
              <a:t>69.37% CV Macro-F1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328689-2DAC-44F0-BEA3-EC74D90F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67025"/>
            <a:ext cx="321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3A52"/>
          </a:solidFill>
          <a:ln xmlns:a="http://schemas.openxmlformats.org/drawingml/2006/main" w="0">
            <a:solidFill>
              <a:srgbClr val="213A5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98A068-54A4-40C1-A53F-BD4BC877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76575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ADBED4"/>
                </a:solidFill>
              </a:defRPr>
            </a:pPr>
            <a:r>
              <a:rPr sz="825" b="1">
                <a:solidFill>
                  <a:srgbClr val="ADBED4"/>
                </a:solidFill>
              </a:rPr>
              <a:t>WHY IT LAGGED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7DC6EC-5C6C-44CD-823B-F84B07FD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528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Assumes features are conditionally independent.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1525935-2635-4AC4-A0B3-D494BE8F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24300"/>
            <a:ext cx="3143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6FAFF"/>
                </a:solidFill>
              </a:defRPr>
            </a:pPr>
            <a:r>
              <a:rPr sz="1125" b="1">
                <a:solidFill>
                  <a:srgbClr val="F6FAFF"/>
                </a:solidFill>
              </a:rPr>
              <a:t>That is too simple for correlated words, bigrams, and style patterns.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37DE2A-9ECA-4C83-B707-AF04CCA2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714875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ADBED4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ADBED4"/>
                </a:solidFill>
              </a:defRPr>
            </a:pPr>
            <a:r>
              <a:rPr sz="975" b="0">
                <a:solidFill>
                  <a:srgbClr val="ADBED4"/>
                </a:solidFill>
              </a:rPr>
              <a:t>Useful because it provides a fast traditional baseline—not because it was expected to win.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F0A9AB4-EBCC-4B27-AEA7-6E3A889B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38800"/>
            <a:ext cx="10829925" cy="466725"/>
          </a:xfrm>
          <a:prstGeom xmlns:a="http://schemas.openxmlformats.org/drawingml/2006/main" prst="roundRect">
            <a:avLst>
              <a:gd name="adj" fmla="val 16327"/>
            </a:avLst>
          </a:prstGeom>
          <a:solidFill xmlns:a="http://schemas.openxmlformats.org/drawingml/2006/main">
            <a:srgbClr val="112A42"/>
          </a:solidFill>
          <a:ln xmlns:a="http://schemas.openxmlformats.org/drawingml/2006/main" w="9525">
            <a:solidFill>
              <a:srgbClr val="213A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6B0056-2AB5-45D9-9029-5B42C623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743575"/>
            <a:ext cx="200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FFBD7C"/>
                </a:solidFill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FFBD7C"/>
                </a:solidFill>
              </a:defRPr>
            </a:pPr>
            <a:r>
              <a:rPr sz="975" b="1">
                <a:solidFill>
                  <a:srgbClr val="FFBD7C"/>
                </a:solidFill>
              </a:rPr>
              <a:t>Small effect, honest claim: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7A21B2-9267-4F11-8BAE-0F4822B2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715000"/>
            <a:ext cx="8429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F6FAFF"/>
                </a:solidFill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F6FAFF"/>
                </a:solidFill>
              </a:defRPr>
            </a:pPr>
            <a:r>
              <a:rPr sz="975" b="0">
                <a:solidFill>
                  <a:srgbClr val="F6FAFF"/>
                </a:solidFill>
              </a:rPr>
              <a:t>the six linguistic features improved SVM by only +0.19 percentage points; most performance came from TF-IDF + Linear SVM.</a:t>
            </a:r>
          </a:p>
        </p:txBody>
      </p:sp>
    </p:spTree>
    <p:extLst>
      <p:ext uri="{BB962C8B-B14F-4D97-AF65-F5344CB8AC3E}">
        <p14:creationId xmlns:p14="http://schemas.microsoft.com/office/powerpoint/2010/main" val="17570566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2026-10-11T22:49:41.7970000Z</dcterms:created>
  <dcterms:modified xsi:type="dcterms:W3CDTF">2026-10-11T22:49:41.7970000Z</dcterms:modified>
</coreProperties>
</file>
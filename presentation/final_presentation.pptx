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0:00 - 0:25 | ~25s]</a:t>
            </a:r>
          </a:p>
          <a:p>
            <a:r>
              <a:t>SPOKEN SCRIPT (52 words):</a:t>
            </a:r>
          </a:p>
          <a:p>
            <a:r>
              <a:t>"Good morning. This project investigates binary text classification to distinguish AI-generated from human-written English text. Starting from our augmented dataset of 3,402 passages, our reproducible preprocessing pipeline filters short texts under 50 words and eliminates exact label conflicts and duplicates. This yields 3,382 clean, balanced samples: 1,698 AI-generated and 1,684 human passages."</a:t>
            </a:r>
          </a:p>
          <a:p/>
          <a:p>
            <a:r>
              <a:t>KEY BACKUP FACTS:</a:t>
            </a:r>
          </a:p>
          <a:p>
            <a:r>
              <a:t>• Raw dataset: 3,402 rows -&gt; 20 filtered (&lt; 50 words) -&gt; 3,382 clean samples.</a:t>
            </a:r>
          </a:p>
          <a:p>
            <a:r>
              <a:t>• Class distribution: 1,698 AI (50.2%), 1,684 Human (49.8%).</a:t>
            </a:r>
          </a:p>
          <a:p>
            <a:r>
              <a:t>• SHA-256 fingerprint: bd5454ec76ed9355d371da77f28fc70de6a38cad0dc1b7a0e47dec593b1b79b9.</a:t>
            </a:r>
          </a:p>
          <a:p>
            <a:r>
              <a:t>• Diagnostic dataset: 200 flipped-label samples kept strictly separate.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0:25 - 0:50 | ~25s]</a:t>
            </a:r>
          </a:p>
          <a:p>
            <a:r>
              <a:t>SPOKEN SCRIPT (56 words):</a:t>
            </a:r>
          </a:p>
          <a:p>
            <a:r>
              <a:t>"To prevent data leakage, we reserve an untouched 20% holdout and evaluate candidates using stratified 5-fold cross-validation on the 80% training set. We extract TF-IDF unigrams and bigrams up to 5,000 features, fitted strictly inside each training fold. We explicitly chose Macro-F1 because falsely accusing human authors and missing AI-generated texts carry equal, severe real-world consequences."</a:t>
            </a:r>
          </a:p>
          <a:p/>
          <a:p>
            <a:r>
              <a:t>KEY BACKUP FACTS:</a:t>
            </a:r>
          </a:p>
          <a:p>
            <a:r>
              <a:t>• Stratified split: 80% train (2,705) / 20% holdout (677), random_state=42.</a:t>
            </a:r>
          </a:p>
          <a:p>
            <a:r>
              <a:t>• Leakage prevention: ColumnTransformer inside Pipeline; TF-IDF fit solely on training folds.</a:t>
            </a:r>
          </a:p>
          <a:p>
            <a:r>
              <a:t>• Models compared: Multinomial Naive Bayes, Logistic Regression, Linear SVM.</a:t>
            </a:r>
          </a:p>
          <a:p>
            <a:r>
              <a:t>• Metric rationale: Macro-F1 averages per-class F1 equally, penalizing asymmetric errors.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0:50 - 1:18 | ~28s]</a:t>
            </a:r>
          </a:p>
          <a:p>
            <a:r>
              <a:t>SPOKEN SCRIPT (61 words):</a:t>
            </a:r>
          </a:p>
          <a:p>
            <a:r>
              <a:t>"Comparing our baselines across training folds, Linear SVM achieved the highest Macro-F1 of 0.9896, followed closely by Logistic Regression at 0.9834, while Naive Bayes trailed at 0.8904. Ablation experiments showed that removing stop words or adding six handcrafted linguistic features did not improve SVM performance. On the untouched 677-sample holdout, our selected Linear SVM achieved 98.23% accuracy with exactly 12 misclassifications."</a:t>
            </a:r>
          </a:p>
          <a:p/>
          <a:p>
            <a:r>
              <a:t>KEY BACKUP FACTS:</a:t>
            </a:r>
          </a:p>
          <a:p>
            <a:r>
              <a:t>• 5-Fold CV (Train only): Linear SVM (0.9896 ± 0.0022) &gt; SVM no stop words (0.9893) &gt; SVM + 6 linguistic features (0.9885) &gt; Logistic Regression (0.9834) &gt; Naive Bayes (0.8904).</a:t>
            </a:r>
          </a:p>
          <a:p>
            <a:r>
              <a:t>• Holdout evaluation: 677 samples; Accuracy: 98.23%; Macro-F1: 0.9823.</a:t>
            </a:r>
          </a:p>
          <a:p>
            <a:r>
              <a:t>• Error breakdown: Exactly 12 errors (6 AI -&gt; Human, 6 Human -&gt; AI).</a:t>
            </a:r>
          </a:p>
          <a:p>
            <a:r>
              <a:t>• Selection integrity: Single holdout evaluation; zero test-set hyperparameter tuning.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1:18 - 1:45 | ~27s]</a:t>
            </a:r>
          </a:p>
          <a:p>
            <a:r>
              <a:t>SPOKEN SCRIPT (53 words):</a:t>
            </a:r>
          </a:p>
          <a:p>
            <a:r>
              <a:t>"However, high in-corpus accuracy does not make a universal detector. Published academic benchmarks such as HC3, SemEval-2024, and RAID demonstrate that n-gram detectors frequently exploit corpus-specific topics and degrade under distribution shift or unseen generators. Rigorous future work requires cross-domain testing and source-aware splitting. Thank you, and I look forward to your questions."</a:t>
            </a:r>
          </a:p>
          <a:p/>
          <a:p>
            <a:r>
              <a:t>KEY BACKUP FACTS:</a:t>
            </a:r>
          </a:p>
          <a:p>
            <a:r>
              <a:t>• Scientific perspective: In-corpus score does NOT equal general authorship detection.</a:t>
            </a:r>
          </a:p>
          <a:p>
            <a:r>
              <a:t>• Literature: HC3 (Guo 2023), SemEval-2024 Task 8 (Pulipaka 2024), RAID (Dugan 2024) prove detectors degrade significantly across domains.</a:t>
            </a:r>
          </a:p>
          <a:p>
            <a:r>
              <a:t>• No false leaderboards: External paper metrics cannot be directly compared numerically.</a:t>
            </a:r>
          </a:p>
          <a:p>
            <a:r>
              <a:t>• Limitations: Topic confounding, near-duplicates, unseen LLM architectures.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4"/>
        </a:solidFill>
      </p:bgPr>
    </p:bg>
    <p:spTree>
      <p:nvGrpSpPr>
        <p:cNvPr id="1" name=""/>
        <p:cNvGrpSpPr/>
        <p:nvPr/>
      </p:nvGrpSpPr>
      <p:grpSpPr>
        <a:xfrm>
          <a:off x="0" y="0"/>
          <a:ext cx="0" cy="0"/>
          <a:chOff x="0" y="0"/>
          <a:chExt cx="0" cy="0"/>
        </a:xfrm>
      </p:grpSpPr>
      <p:sp>
        <p:nvSpPr>
          <p:cNvPr id="2" name="Shape 0"/>
          <p:cNvSpPr/>
          <p:nvPr/>
        </p:nvSpPr>
        <p:spPr>
          <a:xfrm>
            <a:off x="438912" y="448056"/>
            <a:ext cx="82296" cy="301752"/>
          </a:xfrm>
          <a:prstGeom prst="rect">
            <a:avLst/>
          </a:prstGeom>
          <a:solidFill>
            <a:srgbClr val="64DCD3"/>
          </a:solidFill>
          <a:ln w="12700">
            <a:solidFill>
              <a:srgbClr val="64DCD3"/>
            </a:solidFill>
            <a:prstDash val="solid"/>
          </a:ln>
        </p:spPr>
      </p:sp>
      <p:sp>
        <p:nvSpPr>
          <p:cNvPr id="3" name="Text 1"/>
          <p:cNvSpPr/>
          <p:nvPr/>
        </p:nvSpPr>
        <p:spPr>
          <a:xfrm>
            <a:off x="667512" y="438912"/>
            <a:ext cx="5943600" cy="256032"/>
          </a:xfrm>
          <a:prstGeom prst="rect">
            <a:avLst/>
          </a:prstGeom>
          <a:noFill/>
          <a:ln/>
        </p:spPr>
        <p:txBody>
          <a:bodyPr wrap="square" lIns="0" tIns="0" rIns="0" bIns="0" rtlCol="0" anchor="ctr">
            <a:normAutofit/>
          </a:bodyPr>
          <a:lstStyle/>
          <a:p>
            <a:pPr algn="l" indent="0" marL="0">
              <a:buNone/>
            </a:pPr>
            <a:r>
              <a:rPr lang="en-US" sz="1050" b="1" spc="170" kern="0" dirty="0">
                <a:solidFill>
                  <a:srgbClr val="ADBED4"/>
                </a:solidFill>
                <a:latin typeface="Aptos" pitchFamily="34" charset="0"/>
                <a:ea typeface="Aptos" pitchFamily="34" charset="-122"/>
                <a:cs typeface="Aptos" pitchFamily="34" charset="-120"/>
              </a:rPr>
              <a:t>COE025   /   NATURAL LANGUAGE PROCESSING</a:t>
            </a:r>
            <a:endParaRPr lang="en-US" sz="1050" dirty="0"/>
          </a:p>
        </p:txBody>
      </p:sp>
      <p:sp>
        <p:nvSpPr>
          <p:cNvPr id="4" name="Text 2"/>
          <p:cNvSpPr/>
          <p:nvPr/>
        </p:nvSpPr>
        <p:spPr>
          <a:xfrm>
            <a:off x="7315200" y="438912"/>
            <a:ext cx="4389120" cy="256032"/>
          </a:xfrm>
          <a:prstGeom prst="rect">
            <a:avLst/>
          </a:prstGeom>
          <a:noFill/>
          <a:ln/>
        </p:spPr>
        <p:txBody>
          <a:bodyPr wrap="square" lIns="0" tIns="0" rIns="0" bIns="0" rtlCol="0" anchor="ctr">
            <a:normAutofit/>
          </a:bodyPr>
          <a:lstStyle/>
          <a:p>
            <a:pPr algn="r" indent="0" marL="0">
              <a:buNone/>
            </a:pPr>
            <a:r>
              <a:rPr lang="en-US" sz="1050" b="1" spc="80" kern="0" dirty="0">
                <a:solidFill>
                  <a:srgbClr val="ADBED4"/>
                </a:solidFill>
                <a:latin typeface="Aptos" pitchFamily="34" charset="0"/>
                <a:ea typeface="Aptos" pitchFamily="34" charset="-122"/>
                <a:cs typeface="Aptos" pitchFamily="34" charset="-120"/>
              </a:rPr>
              <a:t>PROJECT 01     ·     PROBLEM &amp; DATA</a:t>
            </a:r>
            <a:endParaRPr lang="en-US" sz="1050" dirty="0"/>
          </a:p>
        </p:txBody>
      </p:sp>
      <p:sp>
        <p:nvSpPr>
          <p:cNvPr id="5" name="Shape 3"/>
          <p:cNvSpPr/>
          <p:nvPr/>
        </p:nvSpPr>
        <p:spPr>
          <a:xfrm>
            <a:off x="475488" y="914400"/>
            <a:ext cx="11228832" cy="0"/>
          </a:xfrm>
          <a:prstGeom prst="line">
            <a:avLst/>
          </a:prstGeom>
          <a:noFill/>
          <a:ln w="10160">
            <a:solidFill>
              <a:srgbClr val="293B55"/>
            </a:solidFill>
            <a:prstDash val="solid"/>
          </a:ln>
        </p:spPr>
      </p:sp>
      <p:sp>
        <p:nvSpPr>
          <p:cNvPr id="6" name="Shape 4"/>
          <p:cNvSpPr/>
          <p:nvPr/>
        </p:nvSpPr>
        <p:spPr>
          <a:xfrm>
            <a:off x="475488" y="6528816"/>
            <a:ext cx="11228832" cy="0"/>
          </a:xfrm>
          <a:prstGeom prst="line">
            <a:avLst/>
          </a:prstGeom>
          <a:noFill/>
          <a:ln w="10160">
            <a:solidFill>
              <a:srgbClr val="293B55"/>
            </a:solidFill>
            <a:prstDash val="solid"/>
          </a:ln>
        </p:spPr>
      </p:sp>
      <p:sp>
        <p:nvSpPr>
          <p:cNvPr id="7" name="Text 5"/>
          <p:cNvSpPr/>
          <p:nvPr/>
        </p:nvSpPr>
        <p:spPr>
          <a:xfrm>
            <a:off x="512064" y="6583680"/>
            <a:ext cx="8595360" cy="164592"/>
          </a:xfrm>
          <a:prstGeom prst="rect">
            <a:avLst/>
          </a:prstGeom>
          <a:noFill/>
          <a:ln/>
        </p:spPr>
        <p:txBody>
          <a:bodyPr wrap="square" lIns="0" tIns="0" rIns="0" bIns="0" rtlCol="0" anchor="ctr">
            <a:normAutofit/>
          </a:bodyPr>
          <a:lstStyle/>
          <a:p>
            <a:pPr algn="l" indent="0" marL="0">
              <a:buNone/>
            </a:pPr>
            <a:r>
              <a:rPr lang="en-US" sz="950" dirty="0">
                <a:solidFill>
                  <a:srgbClr val="7990AC"/>
                </a:solidFill>
                <a:latin typeface="Aptos" pitchFamily="34" charset="0"/>
                <a:ea typeface="Aptos" pitchFamily="34" charset="-122"/>
                <a:cs typeface="Aptos" pitchFamily="34" charset="-120"/>
              </a:rPr>
              <a:t>AI vs. Human  ·  Oct 2026  ·  Local VS Code benchmark</a:t>
            </a:r>
            <a:endParaRPr lang="en-US" sz="950" dirty="0"/>
          </a:p>
        </p:txBody>
      </p:sp>
      <p:sp>
        <p:nvSpPr>
          <p:cNvPr id="8" name="Text 6"/>
          <p:cNvSpPr/>
          <p:nvPr/>
        </p:nvSpPr>
        <p:spPr>
          <a:xfrm>
            <a:off x="11064240" y="6583680"/>
            <a:ext cx="640080" cy="164592"/>
          </a:xfrm>
          <a:prstGeom prst="rect">
            <a:avLst/>
          </a:prstGeom>
          <a:noFill/>
          <a:ln/>
        </p:spPr>
        <p:txBody>
          <a:bodyPr wrap="square" lIns="0" tIns="0" rIns="0" bIns="0" rtlCol="0" anchor="ctr">
            <a:normAutofit/>
          </a:bodyPr>
          <a:lstStyle/>
          <a:p>
            <a:pPr algn="r" indent="0" marL="0">
              <a:buNone/>
            </a:pPr>
            <a:r>
              <a:rPr lang="en-US" sz="950" dirty="0">
                <a:solidFill>
                  <a:srgbClr val="ADBED4"/>
                </a:solidFill>
                <a:latin typeface="Aptos" pitchFamily="34" charset="0"/>
                <a:ea typeface="Aptos" pitchFamily="34" charset="-122"/>
                <a:cs typeface="Aptos" pitchFamily="34" charset="-120"/>
              </a:rPr>
              <a:t>01</a:t>
            </a:r>
            <a:endParaRPr lang="en-US" sz="950" dirty="0"/>
          </a:p>
        </p:txBody>
      </p:sp>
      <p:sp>
        <p:nvSpPr>
          <p:cNvPr id="9" name="Text 7"/>
          <p:cNvSpPr/>
          <p:nvPr/>
        </p:nvSpPr>
        <p:spPr>
          <a:xfrm>
            <a:off x="630936" y="1362456"/>
            <a:ext cx="493776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TEXT CLASSIFICATION · BINARY</a:t>
            </a:r>
            <a:endParaRPr lang="en-US" sz="1050" dirty="0"/>
          </a:p>
        </p:txBody>
      </p:sp>
      <p:sp>
        <p:nvSpPr>
          <p:cNvPr id="10" name="Text 8"/>
          <p:cNvSpPr/>
          <p:nvPr/>
        </p:nvSpPr>
        <p:spPr>
          <a:xfrm>
            <a:off x="612648" y="1764792"/>
            <a:ext cx="6858000" cy="1609344"/>
          </a:xfrm>
          <a:prstGeom prst="rect">
            <a:avLst/>
          </a:prstGeom>
          <a:noFill/>
          <a:ln/>
        </p:spPr>
        <p:txBody>
          <a:bodyPr wrap="square" lIns="0" tIns="0" rIns="0" bIns="0" rtlCol="0" anchor="ctr">
            <a:normAutofit/>
          </a:bodyPr>
          <a:lstStyle/>
          <a:p>
            <a:pPr algn="l" indent="0" marL="0">
              <a:lnSpc>
                <a:spcPct val="105000"/>
              </a:lnSpc>
              <a:buNone/>
            </a:pPr>
            <a:r>
              <a:rPr lang="en-US" sz="4900" b="1" dirty="0">
                <a:solidFill>
                  <a:srgbClr val="F6FAFF"/>
                </a:solidFill>
                <a:latin typeface="Aptos" pitchFamily="34" charset="0"/>
                <a:ea typeface="Aptos" pitchFamily="34" charset="-122"/>
                <a:cs typeface="Aptos" pitchFamily="34" charset="-120"/>
              </a:rPr>
              <a:t>WHO WROTE</a:t>
            </a:r>
            <a:endParaRPr lang="en-US" sz="4900" dirty="0"/>
          </a:p>
          <a:p>
            <a:pPr algn="l" indent="0" marL="0">
              <a:lnSpc>
                <a:spcPct val="105000"/>
              </a:lnSpc>
              <a:buNone/>
            </a:pPr>
            <a:r>
              <a:rPr lang="en-US" sz="4900" b="1" dirty="0">
                <a:solidFill>
                  <a:srgbClr val="F6FAFF"/>
                </a:solidFill>
                <a:latin typeface="Aptos" pitchFamily="34" charset="0"/>
                <a:ea typeface="Aptos" pitchFamily="34" charset="-122"/>
                <a:cs typeface="Aptos" pitchFamily="34" charset="-120"/>
              </a:rPr>
              <a:t>THIS TEXT?</a:t>
            </a:r>
            <a:endParaRPr lang="en-US" sz="4900" dirty="0"/>
          </a:p>
        </p:txBody>
      </p:sp>
      <p:sp>
        <p:nvSpPr>
          <p:cNvPr id="11" name="Text 9"/>
          <p:cNvSpPr/>
          <p:nvPr/>
        </p:nvSpPr>
        <p:spPr>
          <a:xfrm>
            <a:off x="658368" y="3675888"/>
            <a:ext cx="6309360" cy="402336"/>
          </a:xfrm>
          <a:prstGeom prst="rect">
            <a:avLst/>
          </a:prstGeom>
          <a:noFill/>
          <a:ln/>
        </p:spPr>
        <p:txBody>
          <a:bodyPr wrap="square" lIns="0" tIns="0" rIns="0" bIns="0" rtlCol="0" anchor="ctr">
            <a:normAutofit/>
          </a:bodyPr>
          <a:lstStyle/>
          <a:p>
            <a:pPr algn="l" indent="0" marL="0">
              <a:buNone/>
            </a:pPr>
            <a:r>
              <a:rPr lang="en-US" sz="2300" b="1" dirty="0">
                <a:solidFill>
                  <a:srgbClr val="64DCD3"/>
                </a:solidFill>
                <a:latin typeface="Aptos" pitchFamily="34" charset="0"/>
                <a:ea typeface="Aptos" pitchFamily="34" charset="-122"/>
                <a:cs typeface="Aptos" pitchFamily="34" charset="-120"/>
              </a:rPr>
              <a:t>AI-generated  vs.  human-written</a:t>
            </a:r>
            <a:endParaRPr lang="en-US" sz="2300" dirty="0"/>
          </a:p>
        </p:txBody>
      </p:sp>
      <p:sp>
        <p:nvSpPr>
          <p:cNvPr id="12" name="Text 10"/>
          <p:cNvSpPr/>
          <p:nvPr/>
        </p:nvSpPr>
        <p:spPr>
          <a:xfrm>
            <a:off x="658368" y="4370832"/>
            <a:ext cx="6035040" cy="713232"/>
          </a:xfrm>
          <a:prstGeom prst="rect">
            <a:avLst/>
          </a:prstGeom>
          <a:noFill/>
          <a:ln/>
        </p:spPr>
        <p:txBody>
          <a:bodyPr wrap="square" lIns="0" tIns="0" rIns="0" bIns="0" rtlCol="0" anchor="t">
            <a:normAutofit/>
          </a:bodyPr>
          <a:lstStyle/>
          <a:p>
            <a:pPr algn="l" indent="0" marL="0">
              <a:buNone/>
            </a:pPr>
            <a:r>
              <a:rPr lang="en-US" sz="1700" dirty="0">
                <a:solidFill>
                  <a:srgbClr val="ADBED4"/>
                </a:solidFill>
                <a:latin typeface="Aptos" pitchFamily="34" charset="0"/>
                <a:ea typeface="Aptos" pitchFamily="34" charset="-122"/>
                <a:cs typeface="Aptos" pitchFamily="34" charset="-120"/>
              </a:rPr>
              <a:t>A reproducible comparison of classical NLP classifiers on an augmented English-text corpus.</a:t>
            </a:r>
            <a:endParaRPr lang="en-US" sz="1700" dirty="0"/>
          </a:p>
        </p:txBody>
      </p:sp>
      <p:sp>
        <p:nvSpPr>
          <p:cNvPr id="13" name="Shape 11"/>
          <p:cNvSpPr/>
          <p:nvPr/>
        </p:nvSpPr>
        <p:spPr>
          <a:xfrm>
            <a:off x="658368" y="5513832"/>
            <a:ext cx="1874520" cy="347472"/>
          </a:xfrm>
          <a:prstGeom prst="roundRect">
            <a:avLst>
              <a:gd name="adj" fmla="val 34211"/>
            </a:avLst>
          </a:prstGeom>
          <a:solidFill>
            <a:srgbClr val="1A2B43"/>
          </a:solidFill>
          <a:ln w="12700">
            <a:solidFill>
              <a:srgbClr val="1A2B43"/>
            </a:solidFill>
            <a:prstDash val="solid"/>
          </a:ln>
        </p:spPr>
      </p:sp>
      <p:sp>
        <p:nvSpPr>
          <p:cNvPr id="14" name="Text 12"/>
          <p:cNvSpPr/>
          <p:nvPr/>
        </p:nvSpPr>
        <p:spPr>
          <a:xfrm>
            <a:off x="804672" y="5559552"/>
            <a:ext cx="1581912" cy="228600"/>
          </a:xfrm>
          <a:prstGeom prst="rect">
            <a:avLst/>
          </a:prstGeom>
          <a:noFill/>
          <a:ln/>
        </p:spPr>
        <p:txBody>
          <a:bodyPr wrap="square" lIns="0" tIns="0" rIns="0" bIns="0" rtlCol="0" anchor="ctr">
            <a:normAutofit/>
          </a:bodyPr>
          <a:lstStyle/>
          <a:p>
            <a:pPr algn="l" indent="0" marL="0">
              <a:buNone/>
            </a:pPr>
            <a:r>
              <a:rPr lang="en-US" sz="1250" b="1" dirty="0">
                <a:solidFill>
                  <a:srgbClr val="64DCD3"/>
                </a:solidFill>
                <a:latin typeface="Aptos" pitchFamily="34" charset="0"/>
                <a:ea typeface="Aptos" pitchFamily="34" charset="-122"/>
                <a:cs typeface="Aptos" pitchFamily="34" charset="-120"/>
              </a:rPr>
              <a:t>Label 0  /  AI</a:t>
            </a:r>
            <a:endParaRPr lang="en-US" sz="1250" dirty="0"/>
          </a:p>
        </p:txBody>
      </p:sp>
      <p:sp>
        <p:nvSpPr>
          <p:cNvPr id="15" name="Shape 13"/>
          <p:cNvSpPr/>
          <p:nvPr/>
        </p:nvSpPr>
        <p:spPr>
          <a:xfrm>
            <a:off x="2660904" y="5513832"/>
            <a:ext cx="2130552" cy="347472"/>
          </a:xfrm>
          <a:prstGeom prst="roundRect">
            <a:avLst>
              <a:gd name="adj" fmla="val 34211"/>
            </a:avLst>
          </a:prstGeom>
          <a:solidFill>
            <a:srgbClr val="1A2B43"/>
          </a:solidFill>
          <a:ln w="12700">
            <a:solidFill>
              <a:srgbClr val="1A2B43"/>
            </a:solidFill>
            <a:prstDash val="solid"/>
          </a:ln>
        </p:spPr>
      </p:sp>
      <p:sp>
        <p:nvSpPr>
          <p:cNvPr id="16" name="Text 14"/>
          <p:cNvSpPr/>
          <p:nvPr/>
        </p:nvSpPr>
        <p:spPr>
          <a:xfrm>
            <a:off x="2807208" y="5559552"/>
            <a:ext cx="1837944" cy="228600"/>
          </a:xfrm>
          <a:prstGeom prst="rect">
            <a:avLst/>
          </a:prstGeom>
          <a:noFill/>
          <a:ln/>
        </p:spPr>
        <p:txBody>
          <a:bodyPr wrap="square" lIns="0" tIns="0" rIns="0" bIns="0" rtlCol="0" anchor="ctr">
            <a:normAutofit/>
          </a:bodyPr>
          <a:lstStyle/>
          <a:p>
            <a:pPr algn="l" indent="0" marL="0">
              <a:buNone/>
            </a:pPr>
            <a:r>
              <a:rPr lang="en-US" sz="1250" b="1" dirty="0">
                <a:solidFill>
                  <a:srgbClr val="89A6FF"/>
                </a:solidFill>
                <a:latin typeface="Aptos" pitchFamily="34" charset="0"/>
                <a:ea typeface="Aptos" pitchFamily="34" charset="-122"/>
                <a:cs typeface="Aptos" pitchFamily="34" charset="-120"/>
              </a:rPr>
              <a:t>Label 1  /  Human</a:t>
            </a:r>
            <a:endParaRPr lang="en-US" sz="1250" dirty="0"/>
          </a:p>
        </p:txBody>
      </p:sp>
      <p:sp>
        <p:nvSpPr>
          <p:cNvPr id="17" name="Shape 15"/>
          <p:cNvSpPr/>
          <p:nvPr/>
        </p:nvSpPr>
        <p:spPr>
          <a:xfrm>
            <a:off x="7388352" y="1499616"/>
            <a:ext cx="4178808" cy="4553712"/>
          </a:xfrm>
          <a:prstGeom prst="roundRect">
            <a:avLst>
              <a:gd name="adj" fmla="val 2626"/>
            </a:avLst>
          </a:prstGeom>
          <a:solidFill>
            <a:srgbClr val="142237"/>
          </a:solidFill>
          <a:ln w="10160">
            <a:solidFill>
              <a:srgbClr val="293B55"/>
            </a:solidFill>
            <a:prstDash val="solid"/>
          </a:ln>
        </p:spPr>
      </p:sp>
      <p:sp>
        <p:nvSpPr>
          <p:cNvPr id="18" name="Text 16"/>
          <p:cNvSpPr/>
          <p:nvPr/>
        </p:nvSpPr>
        <p:spPr>
          <a:xfrm>
            <a:off x="7708392" y="1801368"/>
            <a:ext cx="333756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DATA AFTER CLEANING</a:t>
            </a:r>
            <a:endParaRPr lang="en-US" sz="1050" dirty="0"/>
          </a:p>
        </p:txBody>
      </p:sp>
      <p:sp>
        <p:nvSpPr>
          <p:cNvPr id="19" name="Text 17"/>
          <p:cNvSpPr/>
          <p:nvPr/>
        </p:nvSpPr>
        <p:spPr>
          <a:xfrm>
            <a:off x="7680960" y="2212848"/>
            <a:ext cx="3630168" cy="868680"/>
          </a:xfrm>
          <a:prstGeom prst="rect">
            <a:avLst/>
          </a:prstGeom>
          <a:noFill/>
          <a:ln/>
        </p:spPr>
        <p:txBody>
          <a:bodyPr wrap="square" lIns="0" tIns="0" rIns="0" bIns="0" rtlCol="0" anchor="ctr">
            <a:normAutofit/>
          </a:bodyPr>
          <a:lstStyle/>
          <a:p>
            <a:pPr algn="l" indent="0" marL="0">
              <a:buNone/>
            </a:pPr>
            <a:r>
              <a:rPr lang="en-US" sz="5300" b="1" dirty="0">
                <a:solidFill>
                  <a:srgbClr val="F6FAFF"/>
                </a:solidFill>
                <a:latin typeface="Aptos" pitchFamily="34" charset="0"/>
                <a:ea typeface="Aptos" pitchFamily="34" charset="-122"/>
                <a:cs typeface="Aptos" pitchFamily="34" charset="-120"/>
              </a:rPr>
              <a:t>3,382</a:t>
            </a:r>
            <a:endParaRPr lang="en-US" sz="5300" dirty="0"/>
          </a:p>
        </p:txBody>
      </p:sp>
      <p:sp>
        <p:nvSpPr>
          <p:cNvPr id="20" name="Text 18"/>
          <p:cNvSpPr/>
          <p:nvPr/>
        </p:nvSpPr>
        <p:spPr>
          <a:xfrm>
            <a:off x="7717536" y="3072384"/>
            <a:ext cx="3108960" cy="320040"/>
          </a:xfrm>
          <a:prstGeom prst="rect">
            <a:avLst/>
          </a:prstGeom>
          <a:noFill/>
          <a:ln/>
        </p:spPr>
        <p:txBody>
          <a:bodyPr wrap="square" lIns="0" tIns="0" rIns="0" bIns="0" rtlCol="0" anchor="ctr">
            <a:normAutofit/>
          </a:bodyPr>
          <a:lstStyle/>
          <a:p>
            <a:pPr algn="l" indent="0" marL="0">
              <a:buNone/>
            </a:pPr>
            <a:r>
              <a:rPr lang="en-US" sz="1800" dirty="0">
                <a:solidFill>
                  <a:srgbClr val="ADBED4"/>
                </a:solidFill>
                <a:latin typeface="Aptos" pitchFamily="34" charset="0"/>
                <a:ea typeface="Aptos" pitchFamily="34" charset="-122"/>
                <a:cs typeface="Aptos" pitchFamily="34" charset="-120"/>
              </a:rPr>
              <a:t>usable texts</a:t>
            </a:r>
            <a:endParaRPr lang="en-US" sz="1800" dirty="0"/>
          </a:p>
        </p:txBody>
      </p:sp>
      <p:sp>
        <p:nvSpPr>
          <p:cNvPr id="21" name="Shape 19"/>
          <p:cNvSpPr/>
          <p:nvPr/>
        </p:nvSpPr>
        <p:spPr>
          <a:xfrm>
            <a:off x="7708392" y="3639312"/>
            <a:ext cx="3456432" cy="0"/>
          </a:xfrm>
          <a:prstGeom prst="line">
            <a:avLst/>
          </a:prstGeom>
          <a:noFill/>
          <a:ln w="12700">
            <a:solidFill>
              <a:srgbClr val="293B55"/>
            </a:solidFill>
            <a:prstDash val="solid"/>
          </a:ln>
        </p:spPr>
      </p:sp>
      <p:sp>
        <p:nvSpPr>
          <p:cNvPr id="22" name="Text 20"/>
          <p:cNvSpPr/>
          <p:nvPr/>
        </p:nvSpPr>
        <p:spPr>
          <a:xfrm>
            <a:off x="7717536" y="3950208"/>
            <a:ext cx="1554480" cy="438912"/>
          </a:xfrm>
          <a:prstGeom prst="rect">
            <a:avLst/>
          </a:prstGeom>
          <a:noFill/>
          <a:ln/>
        </p:spPr>
        <p:txBody>
          <a:bodyPr wrap="square" lIns="0" tIns="0" rIns="0" bIns="0" rtlCol="0" anchor="ctr">
            <a:normAutofit/>
          </a:bodyPr>
          <a:lstStyle/>
          <a:p>
            <a:pPr algn="l" indent="0" marL="0">
              <a:buNone/>
            </a:pPr>
            <a:r>
              <a:rPr lang="en-US" sz="2500" b="1" dirty="0">
                <a:solidFill>
                  <a:srgbClr val="64DCD3"/>
                </a:solidFill>
                <a:latin typeface="Aptos" pitchFamily="34" charset="0"/>
                <a:ea typeface="Aptos" pitchFamily="34" charset="-122"/>
                <a:cs typeface="Aptos" pitchFamily="34" charset="-120"/>
              </a:rPr>
              <a:t>1,698</a:t>
            </a:r>
            <a:endParaRPr lang="en-US" sz="2500" dirty="0"/>
          </a:p>
        </p:txBody>
      </p:sp>
      <p:sp>
        <p:nvSpPr>
          <p:cNvPr id="23" name="Text 21"/>
          <p:cNvSpPr/>
          <p:nvPr/>
        </p:nvSpPr>
        <p:spPr>
          <a:xfrm>
            <a:off x="9601200" y="3950208"/>
            <a:ext cx="1554480" cy="438912"/>
          </a:xfrm>
          <a:prstGeom prst="rect">
            <a:avLst/>
          </a:prstGeom>
          <a:noFill/>
          <a:ln/>
        </p:spPr>
        <p:txBody>
          <a:bodyPr wrap="square" lIns="0" tIns="0" rIns="0" bIns="0" rtlCol="0" anchor="ctr">
            <a:normAutofit/>
          </a:bodyPr>
          <a:lstStyle/>
          <a:p>
            <a:pPr algn="l" indent="0" marL="0">
              <a:buNone/>
            </a:pPr>
            <a:r>
              <a:rPr lang="en-US" sz="2500" b="1" dirty="0">
                <a:solidFill>
                  <a:srgbClr val="89A6FF"/>
                </a:solidFill>
                <a:latin typeface="Aptos" pitchFamily="34" charset="0"/>
                <a:ea typeface="Aptos" pitchFamily="34" charset="-122"/>
                <a:cs typeface="Aptos" pitchFamily="34" charset="-120"/>
              </a:rPr>
              <a:t>1,684</a:t>
            </a:r>
            <a:endParaRPr lang="en-US" sz="2500" dirty="0"/>
          </a:p>
        </p:txBody>
      </p:sp>
      <p:sp>
        <p:nvSpPr>
          <p:cNvPr id="24" name="Text 22"/>
          <p:cNvSpPr/>
          <p:nvPr/>
        </p:nvSpPr>
        <p:spPr>
          <a:xfrm>
            <a:off x="7717536" y="4416552"/>
            <a:ext cx="1417320" cy="237744"/>
          </a:xfrm>
          <a:prstGeom prst="rect">
            <a:avLst/>
          </a:prstGeom>
          <a:noFill/>
          <a:ln/>
        </p:spPr>
        <p:txBody>
          <a:bodyPr wrap="square" lIns="0" tIns="0" rIns="0" bIns="0" rtlCol="0" anchor="ctr">
            <a:normAutofit/>
          </a:bodyPr>
          <a:lstStyle/>
          <a:p>
            <a:pPr algn="l" indent="0" marL="0">
              <a:buNone/>
            </a:pPr>
            <a:r>
              <a:rPr lang="en-US" sz="1300" dirty="0">
                <a:solidFill>
                  <a:srgbClr val="ADBED4"/>
                </a:solidFill>
                <a:latin typeface="Aptos" pitchFamily="34" charset="0"/>
                <a:ea typeface="Aptos" pitchFamily="34" charset="-122"/>
                <a:cs typeface="Aptos" pitchFamily="34" charset="-120"/>
              </a:rPr>
              <a:t>AI texts</a:t>
            </a:r>
            <a:endParaRPr lang="en-US" sz="1300" dirty="0"/>
          </a:p>
        </p:txBody>
      </p:sp>
      <p:sp>
        <p:nvSpPr>
          <p:cNvPr id="25" name="Text 23"/>
          <p:cNvSpPr/>
          <p:nvPr/>
        </p:nvSpPr>
        <p:spPr>
          <a:xfrm>
            <a:off x="9601200" y="4416552"/>
            <a:ext cx="1645920" cy="237744"/>
          </a:xfrm>
          <a:prstGeom prst="rect">
            <a:avLst/>
          </a:prstGeom>
          <a:noFill/>
          <a:ln/>
        </p:spPr>
        <p:txBody>
          <a:bodyPr wrap="square" lIns="0" tIns="0" rIns="0" bIns="0" rtlCol="0" anchor="ctr">
            <a:normAutofit/>
          </a:bodyPr>
          <a:lstStyle/>
          <a:p>
            <a:pPr algn="l" indent="0" marL="0">
              <a:buNone/>
            </a:pPr>
            <a:r>
              <a:rPr lang="en-US" sz="1300" dirty="0">
                <a:solidFill>
                  <a:srgbClr val="ADBED4"/>
                </a:solidFill>
                <a:latin typeface="Aptos" pitchFamily="34" charset="0"/>
                <a:ea typeface="Aptos" pitchFamily="34" charset="-122"/>
                <a:cs typeface="Aptos" pitchFamily="34" charset="-120"/>
              </a:rPr>
              <a:t>Human texts</a:t>
            </a:r>
            <a:endParaRPr lang="en-US" sz="1300" dirty="0"/>
          </a:p>
        </p:txBody>
      </p:sp>
      <p:sp>
        <p:nvSpPr>
          <p:cNvPr id="26" name="Shape 24"/>
          <p:cNvSpPr/>
          <p:nvPr/>
        </p:nvSpPr>
        <p:spPr>
          <a:xfrm>
            <a:off x="7708392" y="4965192"/>
            <a:ext cx="3483864" cy="128016"/>
          </a:xfrm>
          <a:prstGeom prst="roundRect">
            <a:avLst>
              <a:gd name="adj" fmla="val 42857"/>
            </a:avLst>
          </a:prstGeom>
          <a:solidFill>
            <a:srgbClr val="1A2B43"/>
          </a:solidFill>
          <a:ln w="12700">
            <a:solidFill>
              <a:srgbClr val="1A2B43"/>
            </a:solidFill>
            <a:prstDash val="solid"/>
          </a:ln>
        </p:spPr>
      </p:sp>
      <p:sp>
        <p:nvSpPr>
          <p:cNvPr id="27" name="Shape 25"/>
          <p:cNvSpPr/>
          <p:nvPr/>
        </p:nvSpPr>
        <p:spPr>
          <a:xfrm>
            <a:off x="7708392" y="4965192"/>
            <a:ext cx="1749143" cy="128016"/>
          </a:xfrm>
          <a:prstGeom prst="roundRect">
            <a:avLst>
              <a:gd name="adj" fmla="val 42857"/>
            </a:avLst>
          </a:prstGeom>
          <a:solidFill>
            <a:srgbClr val="64DCD3"/>
          </a:solidFill>
          <a:ln w="12700">
            <a:solidFill>
              <a:srgbClr val="64DCD3"/>
            </a:solidFill>
            <a:prstDash val="solid"/>
          </a:ln>
        </p:spPr>
      </p:sp>
      <p:sp>
        <p:nvSpPr>
          <p:cNvPr id="28" name="Text 26"/>
          <p:cNvSpPr/>
          <p:nvPr/>
        </p:nvSpPr>
        <p:spPr>
          <a:xfrm>
            <a:off x="7717536" y="5358384"/>
            <a:ext cx="3529584" cy="310896"/>
          </a:xfrm>
          <a:prstGeom prst="rect">
            <a:avLst/>
          </a:prstGeom>
          <a:noFill/>
          <a:ln/>
        </p:spPr>
        <p:txBody>
          <a:bodyPr wrap="square" lIns="0" tIns="0" rIns="0" bIns="0" rtlCol="0" anchor="ctr">
            <a:normAutofit/>
          </a:bodyPr>
          <a:lstStyle/>
          <a:p>
            <a:pPr algn="l" indent="0" marL="0">
              <a:buNone/>
            </a:pPr>
            <a:r>
              <a:rPr lang="en-US" sz="1250" dirty="0">
                <a:solidFill>
                  <a:srgbClr val="ADBED4"/>
                </a:solidFill>
                <a:latin typeface="Aptos" pitchFamily="34" charset="0"/>
                <a:ea typeface="Aptos" pitchFamily="34" charset="-122"/>
                <a:cs typeface="Aptos" pitchFamily="34" charset="-120"/>
              </a:rPr>
              <a:t>3,402 raw   →   20 short removed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24"/>
        </a:solidFill>
      </p:bgPr>
    </p:bg>
    <p:spTree>
      <p:nvGrpSpPr>
        <p:cNvPr id="1" name=""/>
        <p:cNvGrpSpPr/>
        <p:nvPr/>
      </p:nvGrpSpPr>
      <p:grpSpPr>
        <a:xfrm>
          <a:off x="0" y="0"/>
          <a:ext cx="0" cy="0"/>
          <a:chOff x="0" y="0"/>
          <a:chExt cx="0" cy="0"/>
        </a:xfrm>
      </p:grpSpPr>
      <p:sp>
        <p:nvSpPr>
          <p:cNvPr id="2" name="Shape 0"/>
          <p:cNvSpPr/>
          <p:nvPr/>
        </p:nvSpPr>
        <p:spPr>
          <a:xfrm>
            <a:off x="438912" y="448056"/>
            <a:ext cx="82296" cy="301752"/>
          </a:xfrm>
          <a:prstGeom prst="rect">
            <a:avLst/>
          </a:prstGeom>
          <a:solidFill>
            <a:srgbClr val="64DCD3"/>
          </a:solidFill>
          <a:ln w="12700">
            <a:solidFill>
              <a:srgbClr val="64DCD3"/>
            </a:solidFill>
            <a:prstDash val="solid"/>
          </a:ln>
        </p:spPr>
      </p:sp>
      <p:sp>
        <p:nvSpPr>
          <p:cNvPr id="3" name="Text 1"/>
          <p:cNvSpPr/>
          <p:nvPr/>
        </p:nvSpPr>
        <p:spPr>
          <a:xfrm>
            <a:off x="667512" y="438912"/>
            <a:ext cx="5943600" cy="256032"/>
          </a:xfrm>
          <a:prstGeom prst="rect">
            <a:avLst/>
          </a:prstGeom>
          <a:noFill/>
          <a:ln/>
        </p:spPr>
        <p:txBody>
          <a:bodyPr wrap="square" lIns="0" tIns="0" rIns="0" bIns="0" rtlCol="0" anchor="ctr">
            <a:normAutofit/>
          </a:bodyPr>
          <a:lstStyle/>
          <a:p>
            <a:pPr algn="l" indent="0" marL="0">
              <a:buNone/>
            </a:pPr>
            <a:r>
              <a:rPr lang="en-US" sz="1050" b="1" spc="170" kern="0" dirty="0">
                <a:solidFill>
                  <a:srgbClr val="ADBED4"/>
                </a:solidFill>
                <a:latin typeface="Aptos" pitchFamily="34" charset="0"/>
                <a:ea typeface="Aptos" pitchFamily="34" charset="-122"/>
                <a:cs typeface="Aptos" pitchFamily="34" charset="-120"/>
              </a:rPr>
              <a:t>COE025   /   NATURAL LANGUAGE PROCESSING</a:t>
            </a:r>
            <a:endParaRPr lang="en-US" sz="1050" dirty="0"/>
          </a:p>
        </p:txBody>
      </p:sp>
      <p:sp>
        <p:nvSpPr>
          <p:cNvPr id="4" name="Text 2"/>
          <p:cNvSpPr/>
          <p:nvPr/>
        </p:nvSpPr>
        <p:spPr>
          <a:xfrm>
            <a:off x="7315200" y="438912"/>
            <a:ext cx="4389120" cy="256032"/>
          </a:xfrm>
          <a:prstGeom prst="rect">
            <a:avLst/>
          </a:prstGeom>
          <a:noFill/>
          <a:ln/>
        </p:spPr>
        <p:txBody>
          <a:bodyPr wrap="square" lIns="0" tIns="0" rIns="0" bIns="0" rtlCol="0" anchor="ctr">
            <a:normAutofit/>
          </a:bodyPr>
          <a:lstStyle/>
          <a:p>
            <a:pPr algn="r" indent="0" marL="0">
              <a:buNone/>
            </a:pPr>
            <a:r>
              <a:rPr lang="en-US" sz="1050" b="1" spc="80" kern="0" dirty="0">
                <a:solidFill>
                  <a:srgbClr val="ADBED4"/>
                </a:solidFill>
                <a:latin typeface="Aptos" pitchFamily="34" charset="0"/>
                <a:ea typeface="Aptos" pitchFamily="34" charset="-122"/>
                <a:cs typeface="Aptos" pitchFamily="34" charset="-120"/>
              </a:rPr>
              <a:t>PROJECT 01     ·     METHODOLOGY</a:t>
            </a:r>
            <a:endParaRPr lang="en-US" sz="1050" dirty="0"/>
          </a:p>
        </p:txBody>
      </p:sp>
      <p:sp>
        <p:nvSpPr>
          <p:cNvPr id="5" name="Shape 3"/>
          <p:cNvSpPr/>
          <p:nvPr/>
        </p:nvSpPr>
        <p:spPr>
          <a:xfrm>
            <a:off x="475488" y="914400"/>
            <a:ext cx="11228832" cy="0"/>
          </a:xfrm>
          <a:prstGeom prst="line">
            <a:avLst/>
          </a:prstGeom>
          <a:noFill/>
          <a:ln w="10160">
            <a:solidFill>
              <a:srgbClr val="293B55"/>
            </a:solidFill>
            <a:prstDash val="solid"/>
          </a:ln>
        </p:spPr>
      </p:sp>
      <p:sp>
        <p:nvSpPr>
          <p:cNvPr id="6" name="Shape 4"/>
          <p:cNvSpPr/>
          <p:nvPr/>
        </p:nvSpPr>
        <p:spPr>
          <a:xfrm>
            <a:off x="475488" y="6528816"/>
            <a:ext cx="11228832" cy="0"/>
          </a:xfrm>
          <a:prstGeom prst="line">
            <a:avLst/>
          </a:prstGeom>
          <a:noFill/>
          <a:ln w="10160">
            <a:solidFill>
              <a:srgbClr val="293B55"/>
            </a:solidFill>
            <a:prstDash val="solid"/>
          </a:ln>
        </p:spPr>
      </p:sp>
      <p:sp>
        <p:nvSpPr>
          <p:cNvPr id="7" name="Text 5"/>
          <p:cNvSpPr/>
          <p:nvPr/>
        </p:nvSpPr>
        <p:spPr>
          <a:xfrm>
            <a:off x="512064" y="6583680"/>
            <a:ext cx="8595360" cy="164592"/>
          </a:xfrm>
          <a:prstGeom prst="rect">
            <a:avLst/>
          </a:prstGeom>
          <a:noFill/>
          <a:ln/>
        </p:spPr>
        <p:txBody>
          <a:bodyPr wrap="square" lIns="0" tIns="0" rIns="0" bIns="0" rtlCol="0" anchor="ctr">
            <a:normAutofit/>
          </a:bodyPr>
          <a:lstStyle/>
          <a:p>
            <a:pPr algn="l" indent="0" marL="0">
              <a:buNone/>
            </a:pPr>
            <a:r>
              <a:rPr lang="en-US" sz="950" dirty="0">
                <a:solidFill>
                  <a:srgbClr val="7990AC"/>
                </a:solidFill>
                <a:latin typeface="Aptos" pitchFamily="34" charset="0"/>
                <a:ea typeface="Aptos" pitchFamily="34" charset="-122"/>
                <a:cs typeface="Aptos" pitchFamily="34" charset="-120"/>
              </a:rPr>
              <a:t>AI vs. Human  ·  Oct 2026  ·  Local VS Code benchmark</a:t>
            </a:r>
            <a:endParaRPr lang="en-US" sz="950" dirty="0"/>
          </a:p>
        </p:txBody>
      </p:sp>
      <p:sp>
        <p:nvSpPr>
          <p:cNvPr id="8" name="Text 6"/>
          <p:cNvSpPr/>
          <p:nvPr/>
        </p:nvSpPr>
        <p:spPr>
          <a:xfrm>
            <a:off x="11064240" y="6583680"/>
            <a:ext cx="640080" cy="164592"/>
          </a:xfrm>
          <a:prstGeom prst="rect">
            <a:avLst/>
          </a:prstGeom>
          <a:noFill/>
          <a:ln/>
        </p:spPr>
        <p:txBody>
          <a:bodyPr wrap="square" lIns="0" tIns="0" rIns="0" bIns="0" rtlCol="0" anchor="ctr">
            <a:normAutofit/>
          </a:bodyPr>
          <a:lstStyle/>
          <a:p>
            <a:pPr algn="r" indent="0" marL="0">
              <a:buNone/>
            </a:pPr>
            <a:r>
              <a:rPr lang="en-US" sz="950" dirty="0">
                <a:solidFill>
                  <a:srgbClr val="ADBED4"/>
                </a:solidFill>
                <a:latin typeface="Aptos" pitchFamily="34" charset="0"/>
                <a:ea typeface="Aptos" pitchFamily="34" charset="-122"/>
                <a:cs typeface="Aptos" pitchFamily="34" charset="-120"/>
              </a:rPr>
              <a:t>02</a:t>
            </a:r>
            <a:endParaRPr lang="en-US" sz="950" dirty="0"/>
          </a:p>
        </p:txBody>
      </p:sp>
      <p:sp>
        <p:nvSpPr>
          <p:cNvPr id="9" name="Text 7"/>
          <p:cNvSpPr/>
          <p:nvPr/>
        </p:nvSpPr>
        <p:spPr>
          <a:xfrm>
            <a:off x="530352" y="1143000"/>
            <a:ext cx="10698480" cy="566928"/>
          </a:xfrm>
          <a:prstGeom prst="rect">
            <a:avLst/>
          </a:prstGeom>
          <a:noFill/>
          <a:ln/>
        </p:spPr>
        <p:txBody>
          <a:bodyPr wrap="square" lIns="0" tIns="0" rIns="0" bIns="0" rtlCol="0" anchor="ctr">
            <a:normAutofit/>
          </a:bodyPr>
          <a:lstStyle/>
          <a:p>
            <a:pPr algn="l" indent="0" marL="0">
              <a:buNone/>
            </a:pPr>
            <a:r>
              <a:rPr lang="en-US" sz="3200" b="1" dirty="0">
                <a:solidFill>
                  <a:srgbClr val="F6FAFF"/>
                </a:solidFill>
                <a:latin typeface="Aptos" pitchFamily="34" charset="0"/>
                <a:ea typeface="Aptos" pitchFamily="34" charset="-122"/>
                <a:cs typeface="Aptos" pitchFamily="34" charset="-120"/>
              </a:rPr>
              <a:t>A LEAKAGE-AWARE PIPELINE</a:t>
            </a:r>
            <a:endParaRPr lang="en-US" sz="3200" dirty="0"/>
          </a:p>
        </p:txBody>
      </p:sp>
      <p:sp>
        <p:nvSpPr>
          <p:cNvPr id="10" name="Text 8"/>
          <p:cNvSpPr/>
          <p:nvPr/>
        </p:nvSpPr>
        <p:spPr>
          <a:xfrm>
            <a:off x="539496" y="1783080"/>
            <a:ext cx="10972800" cy="384048"/>
          </a:xfrm>
          <a:prstGeom prst="rect">
            <a:avLst/>
          </a:prstGeom>
          <a:noFill/>
          <a:ln/>
        </p:spPr>
        <p:txBody>
          <a:bodyPr wrap="square" lIns="0" tIns="0" rIns="0" bIns="0" rtlCol="0" anchor="ctr">
            <a:normAutofit/>
          </a:bodyPr>
          <a:lstStyle/>
          <a:p>
            <a:pPr algn="l" indent="0" marL="0">
              <a:buNone/>
            </a:pPr>
            <a:r>
              <a:rPr lang="en-US" sz="1500" dirty="0">
                <a:solidFill>
                  <a:srgbClr val="ADBED4"/>
                </a:solidFill>
                <a:latin typeface="Aptos" pitchFamily="34" charset="0"/>
                <a:ea typeface="Aptos" pitchFamily="34" charset="-122"/>
                <a:cs typeface="Aptos" pitchFamily="34" charset="-120"/>
              </a:rPr>
              <a:t>Each preprocessing step is defined in code and each evaluation step is reproducible.</a:t>
            </a:r>
            <a:endParaRPr lang="en-US" sz="1500" dirty="0"/>
          </a:p>
        </p:txBody>
      </p:sp>
      <p:sp>
        <p:nvSpPr>
          <p:cNvPr id="11" name="Shape 9"/>
          <p:cNvSpPr/>
          <p:nvPr/>
        </p:nvSpPr>
        <p:spPr>
          <a:xfrm>
            <a:off x="548640" y="2532888"/>
            <a:ext cx="2121408" cy="2331720"/>
          </a:xfrm>
          <a:prstGeom prst="roundRect">
            <a:avLst>
              <a:gd name="adj" fmla="val 3879"/>
            </a:avLst>
          </a:prstGeom>
          <a:solidFill>
            <a:srgbClr val="142237"/>
          </a:solidFill>
          <a:ln w="10160">
            <a:solidFill>
              <a:srgbClr val="293B55"/>
            </a:solidFill>
            <a:prstDash val="solid"/>
          </a:ln>
        </p:spPr>
      </p:sp>
      <p:sp>
        <p:nvSpPr>
          <p:cNvPr id="12" name="Text 10"/>
          <p:cNvSpPr/>
          <p:nvPr/>
        </p:nvSpPr>
        <p:spPr>
          <a:xfrm>
            <a:off x="731520" y="2770632"/>
            <a:ext cx="1755648" cy="356616"/>
          </a:xfrm>
          <a:prstGeom prst="rect">
            <a:avLst/>
          </a:prstGeom>
          <a:noFill/>
          <a:ln/>
        </p:spPr>
        <p:txBody>
          <a:bodyPr wrap="square" lIns="0" tIns="0" rIns="0" bIns="0" rtlCol="0" anchor="ctr">
            <a:normAutofit/>
          </a:bodyPr>
          <a:lstStyle/>
          <a:p>
            <a:pPr algn="l" indent="0" marL="0">
              <a:buNone/>
            </a:pPr>
            <a:r>
              <a:rPr lang="en-US" sz="2200" b="1" dirty="0">
                <a:solidFill>
                  <a:srgbClr val="64DCD3"/>
                </a:solidFill>
                <a:latin typeface="Aptos" pitchFamily="34" charset="0"/>
                <a:ea typeface="Aptos" pitchFamily="34" charset="-122"/>
                <a:cs typeface="Aptos" pitchFamily="34" charset="-120"/>
              </a:rPr>
              <a:t>01</a:t>
            </a:r>
            <a:endParaRPr lang="en-US" sz="2200" dirty="0"/>
          </a:p>
        </p:txBody>
      </p:sp>
      <p:sp>
        <p:nvSpPr>
          <p:cNvPr id="13" name="Text 11"/>
          <p:cNvSpPr/>
          <p:nvPr/>
        </p:nvSpPr>
        <p:spPr>
          <a:xfrm>
            <a:off x="731520" y="3328416"/>
            <a:ext cx="1755648" cy="329184"/>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CLEAN</a:t>
            </a:r>
            <a:endParaRPr lang="en-US" sz="1600" dirty="0"/>
          </a:p>
        </p:txBody>
      </p:sp>
      <p:sp>
        <p:nvSpPr>
          <p:cNvPr id="14" name="Text 12"/>
          <p:cNvSpPr/>
          <p:nvPr/>
        </p:nvSpPr>
        <p:spPr>
          <a:xfrm>
            <a:off x="731520" y="3803904"/>
            <a:ext cx="1728216" cy="768096"/>
          </a:xfrm>
          <a:prstGeom prst="rect">
            <a:avLst/>
          </a:prstGeom>
          <a:noFill/>
          <a:ln/>
        </p:spPr>
        <p:txBody>
          <a:bodyPr wrap="square" lIns="0" tIns="0" rIns="0" bIns="0" rtlCol="0" anchor="t">
            <a:normAutofit/>
          </a:bodyPr>
          <a:lstStyle/>
          <a:p>
            <a:pPr algn="l" indent="0" marL="0">
              <a:buNone/>
            </a:pPr>
            <a:r>
              <a:rPr lang="en-US" sz="1330" dirty="0">
                <a:solidFill>
                  <a:srgbClr val="ADBED4"/>
                </a:solidFill>
                <a:latin typeface="Aptos" pitchFamily="34" charset="0"/>
                <a:ea typeface="Aptos" pitchFamily="34" charset="-122"/>
                <a:cs typeface="Aptos" pitchFamily="34" charset="-120"/>
              </a:rPr>
              <a:t>Whitespace, labels, 50-word filter, exact duplicates</a:t>
            </a:r>
            <a:endParaRPr lang="en-US" sz="1330" dirty="0"/>
          </a:p>
        </p:txBody>
      </p:sp>
      <p:sp>
        <p:nvSpPr>
          <p:cNvPr id="15" name="Shape 13"/>
          <p:cNvSpPr/>
          <p:nvPr/>
        </p:nvSpPr>
        <p:spPr>
          <a:xfrm>
            <a:off x="2788920" y="2532888"/>
            <a:ext cx="2121408" cy="2331720"/>
          </a:xfrm>
          <a:prstGeom prst="roundRect">
            <a:avLst>
              <a:gd name="adj" fmla="val 3879"/>
            </a:avLst>
          </a:prstGeom>
          <a:solidFill>
            <a:srgbClr val="142237"/>
          </a:solidFill>
          <a:ln w="10160">
            <a:solidFill>
              <a:srgbClr val="293B55"/>
            </a:solidFill>
            <a:prstDash val="solid"/>
          </a:ln>
        </p:spPr>
      </p:sp>
      <p:sp>
        <p:nvSpPr>
          <p:cNvPr id="16" name="Text 14"/>
          <p:cNvSpPr/>
          <p:nvPr/>
        </p:nvSpPr>
        <p:spPr>
          <a:xfrm>
            <a:off x="2971800" y="2770632"/>
            <a:ext cx="1755648" cy="356616"/>
          </a:xfrm>
          <a:prstGeom prst="rect">
            <a:avLst/>
          </a:prstGeom>
          <a:noFill/>
          <a:ln/>
        </p:spPr>
        <p:txBody>
          <a:bodyPr wrap="square" lIns="0" tIns="0" rIns="0" bIns="0" rtlCol="0" anchor="ctr">
            <a:normAutofit/>
          </a:bodyPr>
          <a:lstStyle/>
          <a:p>
            <a:pPr algn="l" indent="0" marL="0">
              <a:buNone/>
            </a:pPr>
            <a:r>
              <a:rPr lang="en-US" sz="2200" b="1" dirty="0">
                <a:solidFill>
                  <a:srgbClr val="64DCD3"/>
                </a:solidFill>
                <a:latin typeface="Aptos" pitchFamily="34" charset="0"/>
                <a:ea typeface="Aptos" pitchFamily="34" charset="-122"/>
                <a:cs typeface="Aptos" pitchFamily="34" charset="-120"/>
              </a:rPr>
              <a:t>02</a:t>
            </a:r>
            <a:endParaRPr lang="en-US" sz="2200" dirty="0"/>
          </a:p>
        </p:txBody>
      </p:sp>
      <p:sp>
        <p:nvSpPr>
          <p:cNvPr id="17" name="Text 15"/>
          <p:cNvSpPr/>
          <p:nvPr/>
        </p:nvSpPr>
        <p:spPr>
          <a:xfrm>
            <a:off x="2971800" y="3328416"/>
            <a:ext cx="1755648" cy="329184"/>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SPLIT</a:t>
            </a:r>
            <a:endParaRPr lang="en-US" sz="1600" dirty="0"/>
          </a:p>
        </p:txBody>
      </p:sp>
      <p:sp>
        <p:nvSpPr>
          <p:cNvPr id="18" name="Text 16"/>
          <p:cNvSpPr/>
          <p:nvPr/>
        </p:nvSpPr>
        <p:spPr>
          <a:xfrm>
            <a:off x="2971800" y="3803904"/>
            <a:ext cx="1728216" cy="768096"/>
          </a:xfrm>
          <a:prstGeom prst="rect">
            <a:avLst/>
          </a:prstGeom>
          <a:noFill/>
          <a:ln/>
        </p:spPr>
        <p:txBody>
          <a:bodyPr wrap="square" lIns="0" tIns="0" rIns="0" bIns="0" rtlCol="0" anchor="t">
            <a:normAutofit/>
          </a:bodyPr>
          <a:lstStyle/>
          <a:p>
            <a:pPr algn="l" indent="0" marL="0">
              <a:buNone/>
            </a:pPr>
            <a:r>
              <a:rPr lang="en-US" sz="1330" dirty="0">
                <a:solidFill>
                  <a:srgbClr val="ADBED4"/>
                </a:solidFill>
                <a:latin typeface="Aptos" pitchFamily="34" charset="0"/>
                <a:ea typeface="Aptos" pitchFamily="34" charset="-122"/>
                <a:cs typeface="Aptos" pitchFamily="34" charset="-120"/>
              </a:rPr>
              <a:t>Stratified 80% train / 20% holdout</a:t>
            </a:r>
            <a:endParaRPr lang="en-US" sz="1330" dirty="0"/>
          </a:p>
        </p:txBody>
      </p:sp>
      <p:sp>
        <p:nvSpPr>
          <p:cNvPr id="19" name="Shape 17"/>
          <p:cNvSpPr/>
          <p:nvPr/>
        </p:nvSpPr>
        <p:spPr>
          <a:xfrm>
            <a:off x="5029200" y="2532888"/>
            <a:ext cx="2121408" cy="2331720"/>
          </a:xfrm>
          <a:prstGeom prst="roundRect">
            <a:avLst>
              <a:gd name="adj" fmla="val 3879"/>
            </a:avLst>
          </a:prstGeom>
          <a:solidFill>
            <a:srgbClr val="142237"/>
          </a:solidFill>
          <a:ln w="10160">
            <a:solidFill>
              <a:srgbClr val="293B55"/>
            </a:solidFill>
            <a:prstDash val="solid"/>
          </a:ln>
        </p:spPr>
      </p:sp>
      <p:sp>
        <p:nvSpPr>
          <p:cNvPr id="20" name="Text 18"/>
          <p:cNvSpPr/>
          <p:nvPr/>
        </p:nvSpPr>
        <p:spPr>
          <a:xfrm>
            <a:off x="5212080" y="2770632"/>
            <a:ext cx="1755648" cy="356616"/>
          </a:xfrm>
          <a:prstGeom prst="rect">
            <a:avLst/>
          </a:prstGeom>
          <a:noFill/>
          <a:ln/>
        </p:spPr>
        <p:txBody>
          <a:bodyPr wrap="square" lIns="0" tIns="0" rIns="0" bIns="0" rtlCol="0" anchor="ctr">
            <a:normAutofit/>
          </a:bodyPr>
          <a:lstStyle/>
          <a:p>
            <a:pPr algn="l" indent="0" marL="0">
              <a:buNone/>
            </a:pPr>
            <a:r>
              <a:rPr lang="en-US" sz="2200" b="1" dirty="0">
                <a:solidFill>
                  <a:srgbClr val="64DCD3"/>
                </a:solidFill>
                <a:latin typeface="Aptos" pitchFamily="34" charset="0"/>
                <a:ea typeface="Aptos" pitchFamily="34" charset="-122"/>
                <a:cs typeface="Aptos" pitchFamily="34" charset="-120"/>
              </a:rPr>
              <a:t>03</a:t>
            </a:r>
            <a:endParaRPr lang="en-US" sz="2200" dirty="0"/>
          </a:p>
        </p:txBody>
      </p:sp>
      <p:sp>
        <p:nvSpPr>
          <p:cNvPr id="21" name="Text 19"/>
          <p:cNvSpPr/>
          <p:nvPr/>
        </p:nvSpPr>
        <p:spPr>
          <a:xfrm>
            <a:off x="5212080" y="3328416"/>
            <a:ext cx="1755648" cy="329184"/>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VECTORIZER</a:t>
            </a:r>
            <a:endParaRPr lang="en-US" sz="1600" dirty="0"/>
          </a:p>
        </p:txBody>
      </p:sp>
      <p:sp>
        <p:nvSpPr>
          <p:cNvPr id="22" name="Text 20"/>
          <p:cNvSpPr/>
          <p:nvPr/>
        </p:nvSpPr>
        <p:spPr>
          <a:xfrm>
            <a:off x="5212080" y="3803904"/>
            <a:ext cx="1728216" cy="768096"/>
          </a:xfrm>
          <a:prstGeom prst="rect">
            <a:avLst/>
          </a:prstGeom>
          <a:noFill/>
          <a:ln/>
        </p:spPr>
        <p:txBody>
          <a:bodyPr wrap="square" lIns="0" tIns="0" rIns="0" bIns="0" rtlCol="0" anchor="t">
            <a:normAutofit/>
          </a:bodyPr>
          <a:lstStyle/>
          <a:p>
            <a:pPr algn="l" indent="0" marL="0">
              <a:buNone/>
            </a:pPr>
            <a:r>
              <a:rPr lang="en-US" sz="1330" dirty="0">
                <a:solidFill>
                  <a:srgbClr val="ADBED4"/>
                </a:solidFill>
                <a:latin typeface="Aptos" pitchFamily="34" charset="0"/>
                <a:ea typeface="Aptos" pitchFamily="34" charset="-122"/>
                <a:cs typeface="Aptos" pitchFamily="34" charset="-120"/>
              </a:rPr>
              <a:t>TF-IDF; 1–2 grams; max. 5,000 features</a:t>
            </a:r>
            <a:endParaRPr lang="en-US" sz="1330" dirty="0"/>
          </a:p>
        </p:txBody>
      </p:sp>
      <p:sp>
        <p:nvSpPr>
          <p:cNvPr id="23" name="Shape 21"/>
          <p:cNvSpPr/>
          <p:nvPr/>
        </p:nvSpPr>
        <p:spPr>
          <a:xfrm>
            <a:off x="7269480" y="2532888"/>
            <a:ext cx="2121408" cy="2331720"/>
          </a:xfrm>
          <a:prstGeom prst="roundRect">
            <a:avLst>
              <a:gd name="adj" fmla="val 3879"/>
            </a:avLst>
          </a:prstGeom>
          <a:solidFill>
            <a:srgbClr val="142237"/>
          </a:solidFill>
          <a:ln w="10160">
            <a:solidFill>
              <a:srgbClr val="293B55"/>
            </a:solidFill>
            <a:prstDash val="solid"/>
          </a:ln>
        </p:spPr>
      </p:sp>
      <p:sp>
        <p:nvSpPr>
          <p:cNvPr id="24" name="Text 22"/>
          <p:cNvSpPr/>
          <p:nvPr/>
        </p:nvSpPr>
        <p:spPr>
          <a:xfrm>
            <a:off x="7452360" y="2770632"/>
            <a:ext cx="1755648" cy="356616"/>
          </a:xfrm>
          <a:prstGeom prst="rect">
            <a:avLst/>
          </a:prstGeom>
          <a:noFill/>
          <a:ln/>
        </p:spPr>
        <p:txBody>
          <a:bodyPr wrap="square" lIns="0" tIns="0" rIns="0" bIns="0" rtlCol="0" anchor="ctr">
            <a:normAutofit/>
          </a:bodyPr>
          <a:lstStyle/>
          <a:p>
            <a:pPr algn="l" indent="0" marL="0">
              <a:buNone/>
            </a:pPr>
            <a:r>
              <a:rPr lang="en-US" sz="2200" b="1" dirty="0">
                <a:solidFill>
                  <a:srgbClr val="64DCD3"/>
                </a:solidFill>
                <a:latin typeface="Aptos" pitchFamily="34" charset="0"/>
                <a:ea typeface="Aptos" pitchFamily="34" charset="-122"/>
                <a:cs typeface="Aptos" pitchFamily="34" charset="-120"/>
              </a:rPr>
              <a:t>04</a:t>
            </a:r>
            <a:endParaRPr lang="en-US" sz="2200" dirty="0"/>
          </a:p>
        </p:txBody>
      </p:sp>
      <p:sp>
        <p:nvSpPr>
          <p:cNvPr id="25" name="Text 23"/>
          <p:cNvSpPr/>
          <p:nvPr/>
        </p:nvSpPr>
        <p:spPr>
          <a:xfrm>
            <a:off x="7452360" y="3328416"/>
            <a:ext cx="1755648" cy="329184"/>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MODEL SELECT</a:t>
            </a:r>
            <a:endParaRPr lang="en-US" sz="1600" dirty="0"/>
          </a:p>
        </p:txBody>
      </p:sp>
      <p:sp>
        <p:nvSpPr>
          <p:cNvPr id="26" name="Text 24"/>
          <p:cNvSpPr/>
          <p:nvPr/>
        </p:nvSpPr>
        <p:spPr>
          <a:xfrm>
            <a:off x="7452360" y="3803904"/>
            <a:ext cx="1728216" cy="768096"/>
          </a:xfrm>
          <a:prstGeom prst="rect">
            <a:avLst/>
          </a:prstGeom>
          <a:noFill/>
          <a:ln/>
        </p:spPr>
        <p:txBody>
          <a:bodyPr wrap="square" lIns="0" tIns="0" rIns="0" bIns="0" rtlCol="0" anchor="t">
            <a:normAutofit/>
          </a:bodyPr>
          <a:lstStyle/>
          <a:p>
            <a:pPr algn="l" indent="0" marL="0">
              <a:buNone/>
            </a:pPr>
            <a:r>
              <a:rPr lang="en-US" sz="1330" dirty="0">
                <a:solidFill>
                  <a:srgbClr val="ADBED4"/>
                </a:solidFill>
                <a:latin typeface="Aptos" pitchFamily="34" charset="0"/>
                <a:ea typeface="Aptos" pitchFamily="34" charset="-122"/>
                <a:cs typeface="Aptos" pitchFamily="34" charset="-120"/>
              </a:rPr>
              <a:t>5-fold CV on training data only</a:t>
            </a:r>
            <a:endParaRPr lang="en-US" sz="1330" dirty="0"/>
          </a:p>
        </p:txBody>
      </p:sp>
      <p:sp>
        <p:nvSpPr>
          <p:cNvPr id="27" name="Shape 25"/>
          <p:cNvSpPr/>
          <p:nvPr/>
        </p:nvSpPr>
        <p:spPr>
          <a:xfrm>
            <a:off x="9509760" y="2532888"/>
            <a:ext cx="2121408" cy="2331720"/>
          </a:xfrm>
          <a:prstGeom prst="roundRect">
            <a:avLst>
              <a:gd name="adj" fmla="val 3879"/>
            </a:avLst>
          </a:prstGeom>
          <a:solidFill>
            <a:srgbClr val="142237"/>
          </a:solidFill>
          <a:ln w="10160">
            <a:solidFill>
              <a:srgbClr val="293B55"/>
            </a:solidFill>
            <a:prstDash val="solid"/>
          </a:ln>
        </p:spPr>
      </p:sp>
      <p:sp>
        <p:nvSpPr>
          <p:cNvPr id="28" name="Text 26"/>
          <p:cNvSpPr/>
          <p:nvPr/>
        </p:nvSpPr>
        <p:spPr>
          <a:xfrm>
            <a:off x="9692640" y="2770632"/>
            <a:ext cx="1755648" cy="356616"/>
          </a:xfrm>
          <a:prstGeom prst="rect">
            <a:avLst/>
          </a:prstGeom>
          <a:noFill/>
          <a:ln/>
        </p:spPr>
        <p:txBody>
          <a:bodyPr wrap="square" lIns="0" tIns="0" rIns="0" bIns="0" rtlCol="0" anchor="ctr">
            <a:normAutofit/>
          </a:bodyPr>
          <a:lstStyle/>
          <a:p>
            <a:pPr algn="l" indent="0" marL="0">
              <a:buNone/>
            </a:pPr>
            <a:r>
              <a:rPr lang="en-US" sz="2200" b="1" dirty="0">
                <a:solidFill>
                  <a:srgbClr val="64DCD3"/>
                </a:solidFill>
                <a:latin typeface="Aptos" pitchFamily="34" charset="0"/>
                <a:ea typeface="Aptos" pitchFamily="34" charset="-122"/>
                <a:cs typeface="Aptos" pitchFamily="34" charset="-120"/>
              </a:rPr>
              <a:t>05</a:t>
            </a:r>
            <a:endParaRPr lang="en-US" sz="2200" dirty="0"/>
          </a:p>
        </p:txBody>
      </p:sp>
      <p:sp>
        <p:nvSpPr>
          <p:cNvPr id="29" name="Text 27"/>
          <p:cNvSpPr/>
          <p:nvPr/>
        </p:nvSpPr>
        <p:spPr>
          <a:xfrm>
            <a:off x="9692640" y="3328416"/>
            <a:ext cx="1755648" cy="329184"/>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FINAL TEST</a:t>
            </a:r>
            <a:endParaRPr lang="en-US" sz="1600" dirty="0"/>
          </a:p>
        </p:txBody>
      </p:sp>
      <p:sp>
        <p:nvSpPr>
          <p:cNvPr id="30" name="Text 28"/>
          <p:cNvSpPr/>
          <p:nvPr/>
        </p:nvSpPr>
        <p:spPr>
          <a:xfrm>
            <a:off x="9692640" y="3803904"/>
            <a:ext cx="1728216" cy="768096"/>
          </a:xfrm>
          <a:prstGeom prst="rect">
            <a:avLst/>
          </a:prstGeom>
          <a:noFill/>
          <a:ln/>
        </p:spPr>
        <p:txBody>
          <a:bodyPr wrap="square" lIns="0" tIns="0" rIns="0" bIns="0" rtlCol="0" anchor="t">
            <a:normAutofit/>
          </a:bodyPr>
          <a:lstStyle/>
          <a:p>
            <a:pPr algn="l" indent="0" marL="0">
              <a:buNone/>
            </a:pPr>
            <a:r>
              <a:rPr lang="en-US" sz="1330" dirty="0">
                <a:solidFill>
                  <a:srgbClr val="ADBED4"/>
                </a:solidFill>
                <a:latin typeface="Aptos" pitchFamily="34" charset="0"/>
                <a:ea typeface="Aptos" pitchFamily="34" charset="-122"/>
                <a:cs typeface="Aptos" pitchFamily="34" charset="-120"/>
              </a:rPr>
              <a:t>Untouched holdout evaluated once</a:t>
            </a:r>
            <a:endParaRPr lang="en-US" sz="1330" dirty="0"/>
          </a:p>
        </p:txBody>
      </p:sp>
      <p:sp>
        <p:nvSpPr>
          <p:cNvPr id="31" name="Text 29"/>
          <p:cNvSpPr/>
          <p:nvPr/>
        </p:nvSpPr>
        <p:spPr>
          <a:xfrm>
            <a:off x="621792" y="5212080"/>
            <a:ext cx="132588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89A6FF"/>
                </a:solidFill>
                <a:latin typeface="Aptos" pitchFamily="34" charset="0"/>
                <a:ea typeface="Aptos" pitchFamily="34" charset="-122"/>
                <a:cs typeface="Aptos" pitchFamily="34" charset="-120"/>
              </a:rPr>
              <a:t>BASELINES</a:t>
            </a:r>
            <a:endParaRPr lang="en-US" sz="1050" dirty="0"/>
          </a:p>
        </p:txBody>
      </p:sp>
      <p:sp>
        <p:nvSpPr>
          <p:cNvPr id="32" name="Text 30"/>
          <p:cNvSpPr/>
          <p:nvPr/>
        </p:nvSpPr>
        <p:spPr>
          <a:xfrm>
            <a:off x="1847088" y="5193792"/>
            <a:ext cx="9052560" cy="274320"/>
          </a:xfrm>
          <a:prstGeom prst="rect">
            <a:avLst/>
          </a:prstGeom>
          <a:noFill/>
          <a:ln/>
        </p:spPr>
        <p:txBody>
          <a:bodyPr wrap="square" lIns="0" tIns="0" rIns="0" bIns="0" rtlCol="0" anchor="ctr">
            <a:normAutofit/>
          </a:bodyPr>
          <a:lstStyle/>
          <a:p>
            <a:pPr algn="l" indent="0" marL="0">
              <a:buNone/>
            </a:pPr>
            <a:r>
              <a:rPr lang="en-US" sz="1600" b="1" dirty="0">
                <a:solidFill>
                  <a:srgbClr val="F6FAFF"/>
                </a:solidFill>
                <a:latin typeface="Aptos" pitchFamily="34" charset="0"/>
                <a:ea typeface="Aptos" pitchFamily="34" charset="-122"/>
                <a:cs typeface="Aptos" pitchFamily="34" charset="-120"/>
              </a:rPr>
              <a:t>Naive Bayes  /  Logistic Regression  /  Linear SVM</a:t>
            </a:r>
            <a:endParaRPr lang="en-US" sz="1600" dirty="0"/>
          </a:p>
        </p:txBody>
      </p:sp>
      <p:sp>
        <p:nvSpPr>
          <p:cNvPr id="33" name="Text 31"/>
          <p:cNvSpPr/>
          <p:nvPr/>
        </p:nvSpPr>
        <p:spPr>
          <a:xfrm>
            <a:off x="621792" y="5687568"/>
            <a:ext cx="169164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FFBD7C"/>
                </a:solidFill>
                <a:latin typeface="Aptos" pitchFamily="34" charset="0"/>
                <a:ea typeface="Aptos" pitchFamily="34" charset="-122"/>
                <a:cs typeface="Aptos" pitchFamily="34" charset="-120"/>
              </a:rPr>
              <a:t>WHY MACRO-F1?</a:t>
            </a:r>
            <a:endParaRPr lang="en-US" sz="1050" dirty="0"/>
          </a:p>
        </p:txBody>
      </p:sp>
      <p:sp>
        <p:nvSpPr>
          <p:cNvPr id="34" name="Text 32"/>
          <p:cNvSpPr/>
          <p:nvPr/>
        </p:nvSpPr>
        <p:spPr>
          <a:xfrm>
            <a:off x="2212848" y="5660136"/>
            <a:ext cx="9015984" cy="320040"/>
          </a:xfrm>
          <a:prstGeom prst="rect">
            <a:avLst/>
          </a:prstGeom>
          <a:noFill/>
          <a:ln/>
        </p:spPr>
        <p:txBody>
          <a:bodyPr wrap="square" lIns="0" tIns="0" rIns="0" bIns="0" rtlCol="0" anchor="ctr">
            <a:normAutofit/>
          </a:bodyPr>
          <a:lstStyle/>
          <a:p>
            <a:pPr algn="l" indent="0" marL="0">
              <a:buNone/>
            </a:pPr>
            <a:r>
              <a:rPr lang="en-US" sz="1600" dirty="0">
                <a:solidFill>
                  <a:srgbClr val="F6FAFF"/>
                </a:solidFill>
                <a:latin typeface="Aptos" pitchFamily="34" charset="0"/>
                <a:ea typeface="Aptos" pitchFamily="34" charset="-122"/>
                <a:cs typeface="Aptos" pitchFamily="34" charset="-120"/>
              </a:rPr>
              <a:t>AI and human error rates receive equal weight.</a:t>
            </a:r>
            <a:endParaRPr lang="en-US" sz="1600" dirty="0"/>
          </a:p>
        </p:txBody>
      </p:sp>
      <p:sp>
        <p:nvSpPr>
          <p:cNvPr id="35" name="Text 33"/>
          <p:cNvSpPr/>
          <p:nvPr/>
        </p:nvSpPr>
        <p:spPr>
          <a:xfrm>
            <a:off x="640080" y="6153912"/>
            <a:ext cx="10972800" cy="201168"/>
          </a:xfrm>
          <a:prstGeom prst="rect">
            <a:avLst/>
          </a:prstGeom>
          <a:noFill/>
          <a:ln/>
        </p:spPr>
        <p:txBody>
          <a:bodyPr wrap="square" lIns="0" tIns="0" rIns="0" bIns="0" rtlCol="0" anchor="ctr">
            <a:normAutofit/>
          </a:bodyPr>
          <a:lstStyle/>
          <a:p>
            <a:pPr algn="l" indent="0" marL="0">
              <a:buNone/>
            </a:pPr>
            <a:r>
              <a:rPr lang="en-US" sz="1250" dirty="0">
                <a:solidFill>
                  <a:srgbClr val="64DCD3"/>
                </a:solidFill>
                <a:latin typeface="Aptos" pitchFamily="34" charset="0"/>
                <a:ea typeface="Aptos" pitchFamily="34" charset="-122"/>
                <a:cs typeface="Aptos" pitchFamily="34" charset="-120"/>
              </a:rPr>
              <a:t>TF-IDF and scaling are fitted within each fold — never on holdout texts.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4"/>
        </a:solidFill>
      </p:bgPr>
    </p:bg>
    <p:spTree>
      <p:nvGrpSpPr>
        <p:cNvPr id="1" name=""/>
        <p:cNvGrpSpPr/>
        <p:nvPr/>
      </p:nvGrpSpPr>
      <p:grpSpPr>
        <a:xfrm>
          <a:off x="0" y="0"/>
          <a:ext cx="0" cy="0"/>
          <a:chOff x="0" y="0"/>
          <a:chExt cx="0" cy="0"/>
        </a:xfrm>
      </p:grpSpPr>
      <p:sp>
        <p:nvSpPr>
          <p:cNvPr id="2" name="Shape 0"/>
          <p:cNvSpPr/>
          <p:nvPr/>
        </p:nvSpPr>
        <p:spPr>
          <a:xfrm>
            <a:off x="438912" y="448056"/>
            <a:ext cx="82296" cy="301752"/>
          </a:xfrm>
          <a:prstGeom prst="rect">
            <a:avLst/>
          </a:prstGeom>
          <a:solidFill>
            <a:srgbClr val="64DCD3"/>
          </a:solidFill>
          <a:ln w="12700">
            <a:solidFill>
              <a:srgbClr val="64DCD3"/>
            </a:solidFill>
            <a:prstDash val="solid"/>
          </a:ln>
        </p:spPr>
      </p:sp>
      <p:sp>
        <p:nvSpPr>
          <p:cNvPr id="3" name="Text 1"/>
          <p:cNvSpPr/>
          <p:nvPr/>
        </p:nvSpPr>
        <p:spPr>
          <a:xfrm>
            <a:off x="667512" y="438912"/>
            <a:ext cx="5943600" cy="256032"/>
          </a:xfrm>
          <a:prstGeom prst="rect">
            <a:avLst/>
          </a:prstGeom>
          <a:noFill/>
          <a:ln/>
        </p:spPr>
        <p:txBody>
          <a:bodyPr wrap="square" lIns="0" tIns="0" rIns="0" bIns="0" rtlCol="0" anchor="ctr">
            <a:normAutofit/>
          </a:bodyPr>
          <a:lstStyle/>
          <a:p>
            <a:pPr algn="l" indent="0" marL="0">
              <a:buNone/>
            </a:pPr>
            <a:r>
              <a:rPr lang="en-US" sz="1050" b="1" spc="170" kern="0" dirty="0">
                <a:solidFill>
                  <a:srgbClr val="ADBED4"/>
                </a:solidFill>
                <a:latin typeface="Aptos" pitchFamily="34" charset="0"/>
                <a:ea typeface="Aptos" pitchFamily="34" charset="-122"/>
                <a:cs typeface="Aptos" pitchFamily="34" charset="-120"/>
              </a:rPr>
              <a:t>COE025   /   NATURAL LANGUAGE PROCESSING</a:t>
            </a:r>
            <a:endParaRPr lang="en-US" sz="1050" dirty="0"/>
          </a:p>
        </p:txBody>
      </p:sp>
      <p:sp>
        <p:nvSpPr>
          <p:cNvPr id="4" name="Text 2"/>
          <p:cNvSpPr/>
          <p:nvPr/>
        </p:nvSpPr>
        <p:spPr>
          <a:xfrm>
            <a:off x="7315200" y="438912"/>
            <a:ext cx="4389120" cy="256032"/>
          </a:xfrm>
          <a:prstGeom prst="rect">
            <a:avLst/>
          </a:prstGeom>
          <a:noFill/>
          <a:ln/>
        </p:spPr>
        <p:txBody>
          <a:bodyPr wrap="square" lIns="0" tIns="0" rIns="0" bIns="0" rtlCol="0" anchor="ctr">
            <a:normAutofit/>
          </a:bodyPr>
          <a:lstStyle/>
          <a:p>
            <a:pPr algn="r" indent="0" marL="0">
              <a:buNone/>
            </a:pPr>
            <a:r>
              <a:rPr lang="en-US" sz="1050" b="1" spc="80" kern="0" dirty="0">
                <a:solidFill>
                  <a:srgbClr val="ADBED4"/>
                </a:solidFill>
                <a:latin typeface="Aptos" pitchFamily="34" charset="0"/>
                <a:ea typeface="Aptos" pitchFamily="34" charset="-122"/>
                <a:cs typeface="Aptos" pitchFamily="34" charset="-120"/>
              </a:rPr>
              <a:t>PROJECT 01     ·     BENCHMARK</a:t>
            </a:r>
            <a:endParaRPr lang="en-US" sz="1050" dirty="0"/>
          </a:p>
        </p:txBody>
      </p:sp>
      <p:sp>
        <p:nvSpPr>
          <p:cNvPr id="5" name="Shape 3"/>
          <p:cNvSpPr/>
          <p:nvPr/>
        </p:nvSpPr>
        <p:spPr>
          <a:xfrm>
            <a:off x="475488" y="914400"/>
            <a:ext cx="11228832" cy="0"/>
          </a:xfrm>
          <a:prstGeom prst="line">
            <a:avLst/>
          </a:prstGeom>
          <a:noFill/>
          <a:ln w="10160">
            <a:solidFill>
              <a:srgbClr val="293B55"/>
            </a:solidFill>
            <a:prstDash val="solid"/>
          </a:ln>
        </p:spPr>
      </p:sp>
      <p:sp>
        <p:nvSpPr>
          <p:cNvPr id="6" name="Shape 4"/>
          <p:cNvSpPr/>
          <p:nvPr/>
        </p:nvSpPr>
        <p:spPr>
          <a:xfrm>
            <a:off x="475488" y="6528816"/>
            <a:ext cx="11228832" cy="0"/>
          </a:xfrm>
          <a:prstGeom prst="line">
            <a:avLst/>
          </a:prstGeom>
          <a:noFill/>
          <a:ln w="10160">
            <a:solidFill>
              <a:srgbClr val="293B55"/>
            </a:solidFill>
            <a:prstDash val="solid"/>
          </a:ln>
        </p:spPr>
      </p:sp>
      <p:sp>
        <p:nvSpPr>
          <p:cNvPr id="7" name="Text 5"/>
          <p:cNvSpPr/>
          <p:nvPr/>
        </p:nvSpPr>
        <p:spPr>
          <a:xfrm>
            <a:off x="512064" y="6583680"/>
            <a:ext cx="8595360" cy="164592"/>
          </a:xfrm>
          <a:prstGeom prst="rect">
            <a:avLst/>
          </a:prstGeom>
          <a:noFill/>
          <a:ln/>
        </p:spPr>
        <p:txBody>
          <a:bodyPr wrap="square" lIns="0" tIns="0" rIns="0" bIns="0" rtlCol="0" anchor="ctr">
            <a:normAutofit/>
          </a:bodyPr>
          <a:lstStyle/>
          <a:p>
            <a:pPr algn="l" indent="0" marL="0">
              <a:buNone/>
            </a:pPr>
            <a:r>
              <a:rPr lang="en-US" sz="950" dirty="0">
                <a:solidFill>
                  <a:srgbClr val="7990AC"/>
                </a:solidFill>
                <a:latin typeface="Aptos" pitchFamily="34" charset="0"/>
                <a:ea typeface="Aptos" pitchFamily="34" charset="-122"/>
                <a:cs typeface="Aptos" pitchFamily="34" charset="-120"/>
              </a:rPr>
              <a:t>AI vs. Human  ·  Oct 2026  ·  Local VS Code benchmark</a:t>
            </a:r>
            <a:endParaRPr lang="en-US" sz="950" dirty="0"/>
          </a:p>
        </p:txBody>
      </p:sp>
      <p:sp>
        <p:nvSpPr>
          <p:cNvPr id="8" name="Text 6"/>
          <p:cNvSpPr/>
          <p:nvPr/>
        </p:nvSpPr>
        <p:spPr>
          <a:xfrm>
            <a:off x="11064240" y="6583680"/>
            <a:ext cx="640080" cy="164592"/>
          </a:xfrm>
          <a:prstGeom prst="rect">
            <a:avLst/>
          </a:prstGeom>
          <a:noFill/>
          <a:ln/>
        </p:spPr>
        <p:txBody>
          <a:bodyPr wrap="square" lIns="0" tIns="0" rIns="0" bIns="0" rtlCol="0" anchor="ctr">
            <a:normAutofit/>
          </a:bodyPr>
          <a:lstStyle/>
          <a:p>
            <a:pPr algn="r" indent="0" marL="0">
              <a:buNone/>
            </a:pPr>
            <a:r>
              <a:rPr lang="en-US" sz="950" dirty="0">
                <a:solidFill>
                  <a:srgbClr val="ADBED4"/>
                </a:solidFill>
                <a:latin typeface="Aptos" pitchFamily="34" charset="0"/>
                <a:ea typeface="Aptos" pitchFamily="34" charset="-122"/>
                <a:cs typeface="Aptos" pitchFamily="34" charset="-120"/>
              </a:rPr>
              <a:t>03</a:t>
            </a:r>
            <a:endParaRPr lang="en-US" sz="950" dirty="0"/>
          </a:p>
        </p:txBody>
      </p:sp>
      <p:sp>
        <p:nvSpPr>
          <p:cNvPr id="9" name="Text 7"/>
          <p:cNvSpPr/>
          <p:nvPr/>
        </p:nvSpPr>
        <p:spPr>
          <a:xfrm>
            <a:off x="530352" y="1143000"/>
            <a:ext cx="10698480" cy="566928"/>
          </a:xfrm>
          <a:prstGeom prst="rect">
            <a:avLst/>
          </a:prstGeom>
          <a:noFill/>
          <a:ln/>
        </p:spPr>
        <p:txBody>
          <a:bodyPr wrap="square" lIns="0" tIns="0" rIns="0" bIns="0" rtlCol="0" anchor="ctr">
            <a:normAutofit/>
          </a:bodyPr>
          <a:lstStyle/>
          <a:p>
            <a:pPr algn="l" indent="0" marL="0">
              <a:buNone/>
            </a:pPr>
            <a:r>
              <a:rPr lang="en-US" sz="3200" b="1" dirty="0">
                <a:solidFill>
                  <a:srgbClr val="F6FAFF"/>
                </a:solidFill>
                <a:latin typeface="Aptos" pitchFamily="34" charset="0"/>
                <a:ea typeface="Aptos" pitchFamily="34" charset="-122"/>
                <a:cs typeface="Aptos" pitchFamily="34" charset="-120"/>
              </a:rPr>
              <a:t>BASELINES &amp; CONTROLLED ABLATIONS</a:t>
            </a:r>
            <a:endParaRPr lang="en-US" sz="3200" dirty="0"/>
          </a:p>
        </p:txBody>
      </p:sp>
      <p:sp>
        <p:nvSpPr>
          <p:cNvPr id="10" name="Text 8"/>
          <p:cNvSpPr/>
          <p:nvPr/>
        </p:nvSpPr>
        <p:spPr>
          <a:xfrm>
            <a:off x="539496" y="1783080"/>
            <a:ext cx="10972800" cy="384048"/>
          </a:xfrm>
          <a:prstGeom prst="rect">
            <a:avLst/>
          </a:prstGeom>
          <a:noFill/>
          <a:ln/>
        </p:spPr>
        <p:txBody>
          <a:bodyPr wrap="square" lIns="0" tIns="0" rIns="0" bIns="0" rtlCol="0" anchor="ctr">
            <a:normAutofit/>
          </a:bodyPr>
          <a:lstStyle/>
          <a:p>
            <a:pPr algn="l" indent="0" marL="0">
              <a:buNone/>
            </a:pPr>
            <a:r>
              <a:rPr lang="en-US" sz="1500" dirty="0">
                <a:solidFill>
                  <a:srgbClr val="ADBED4"/>
                </a:solidFill>
                <a:latin typeface="Aptos" pitchFamily="34" charset="0"/>
                <a:ea typeface="Aptos" pitchFamily="34" charset="-122"/>
                <a:cs typeface="Aptos" pitchFamily="34" charset="-120"/>
              </a:rPr>
              <a:t>Internal benchmark  ·  identical training split  ·  stratified 5-fold CV</a:t>
            </a:r>
            <a:endParaRPr lang="en-US" sz="1500" dirty="0"/>
          </a:p>
        </p:txBody>
      </p:sp>
      <p:sp>
        <p:nvSpPr>
          <p:cNvPr id="11" name="Text 9"/>
          <p:cNvSpPr/>
          <p:nvPr/>
        </p:nvSpPr>
        <p:spPr>
          <a:xfrm>
            <a:off x="640080" y="2258568"/>
            <a:ext cx="27432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ADBED4"/>
                </a:solidFill>
                <a:latin typeface="Aptos" pitchFamily="34" charset="0"/>
                <a:ea typeface="Aptos" pitchFamily="34" charset="-122"/>
                <a:cs typeface="Aptos" pitchFamily="34" charset="-120"/>
              </a:rPr>
              <a:t>MODEL / EXPERIMENT</a:t>
            </a:r>
            <a:endParaRPr lang="en-US" sz="1050" dirty="0"/>
          </a:p>
        </p:txBody>
      </p:sp>
      <p:sp>
        <p:nvSpPr>
          <p:cNvPr id="12" name="Text 10"/>
          <p:cNvSpPr/>
          <p:nvPr/>
        </p:nvSpPr>
        <p:spPr>
          <a:xfrm>
            <a:off x="6144768" y="2258568"/>
            <a:ext cx="2039112"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ADBED4"/>
                </a:solidFill>
                <a:latin typeface="Aptos" pitchFamily="34" charset="0"/>
                <a:ea typeface="Aptos" pitchFamily="34" charset="-122"/>
                <a:cs typeface="Aptos" pitchFamily="34" charset="-120"/>
              </a:rPr>
              <a:t>MEAN MACRO-F1   ±   SD</a:t>
            </a:r>
            <a:endParaRPr lang="en-US" sz="1050" dirty="0"/>
          </a:p>
        </p:txBody>
      </p:sp>
      <p:sp>
        <p:nvSpPr>
          <p:cNvPr id="13" name="Text 11"/>
          <p:cNvSpPr/>
          <p:nvPr/>
        </p:nvSpPr>
        <p:spPr>
          <a:xfrm>
            <a:off x="640080" y="2679192"/>
            <a:ext cx="3127248" cy="256032"/>
          </a:xfrm>
          <a:prstGeom prst="rect">
            <a:avLst/>
          </a:prstGeom>
          <a:noFill/>
          <a:ln/>
        </p:spPr>
        <p:txBody>
          <a:bodyPr wrap="square" lIns="0" tIns="0" rIns="0" bIns="0" rtlCol="0" anchor="ctr">
            <a:normAutofit/>
          </a:bodyPr>
          <a:lstStyle/>
          <a:p>
            <a:pPr algn="l" indent="0" marL="0">
              <a:buNone/>
            </a:pPr>
            <a:r>
              <a:rPr lang="en-US" sz="1470" b="1" dirty="0">
                <a:solidFill>
                  <a:srgbClr val="64DCD3"/>
                </a:solidFill>
                <a:latin typeface="Aptos" pitchFamily="34" charset="0"/>
                <a:ea typeface="Aptos" pitchFamily="34" charset="-122"/>
                <a:cs typeface="Aptos" pitchFamily="34" charset="-120"/>
              </a:rPr>
              <a:t>Linear SVM</a:t>
            </a:r>
            <a:endParaRPr lang="en-US" sz="1470" dirty="0"/>
          </a:p>
        </p:txBody>
      </p:sp>
      <p:sp>
        <p:nvSpPr>
          <p:cNvPr id="14" name="Shape 12"/>
          <p:cNvSpPr/>
          <p:nvPr/>
        </p:nvSpPr>
        <p:spPr>
          <a:xfrm>
            <a:off x="3877056" y="2729484"/>
            <a:ext cx="2039112" cy="137160"/>
          </a:xfrm>
          <a:prstGeom prst="roundRect">
            <a:avLst>
              <a:gd name="adj" fmla="val 26667"/>
            </a:avLst>
          </a:prstGeom>
          <a:solidFill>
            <a:srgbClr val="1A2B43"/>
          </a:solidFill>
          <a:ln w="12700">
            <a:solidFill>
              <a:srgbClr val="1A2B43"/>
            </a:solidFill>
            <a:prstDash val="solid"/>
          </a:ln>
        </p:spPr>
      </p:sp>
      <p:sp>
        <p:nvSpPr>
          <p:cNvPr id="15" name="Shape 13"/>
          <p:cNvSpPr/>
          <p:nvPr/>
        </p:nvSpPr>
        <p:spPr>
          <a:xfrm>
            <a:off x="3877056" y="2729484"/>
            <a:ext cx="2017905" cy="137160"/>
          </a:xfrm>
          <a:prstGeom prst="roundRect">
            <a:avLst>
              <a:gd name="adj" fmla="val 26667"/>
            </a:avLst>
          </a:prstGeom>
          <a:solidFill>
            <a:srgbClr val="64DCD3"/>
          </a:solidFill>
          <a:ln w="12700">
            <a:solidFill>
              <a:srgbClr val="64DCD3"/>
            </a:solidFill>
            <a:prstDash val="solid"/>
          </a:ln>
        </p:spPr>
      </p:sp>
      <p:sp>
        <p:nvSpPr>
          <p:cNvPr id="16" name="Text 14"/>
          <p:cNvSpPr/>
          <p:nvPr/>
        </p:nvSpPr>
        <p:spPr>
          <a:xfrm>
            <a:off x="6190488" y="2670048"/>
            <a:ext cx="1874520" cy="338328"/>
          </a:xfrm>
          <a:prstGeom prst="rect">
            <a:avLst/>
          </a:prstGeom>
          <a:noFill/>
          <a:ln/>
        </p:spPr>
        <p:txBody>
          <a:bodyPr wrap="square" lIns="0" tIns="0" rIns="0" bIns="0" rtlCol="0" anchor="ctr">
            <a:normAutofit/>
          </a:bodyPr>
          <a:lstStyle/>
          <a:p>
            <a:pPr algn="l" indent="0" marL="0">
              <a:buNone/>
            </a:pPr>
            <a:r>
              <a:rPr lang="en-US" sz="1540" b="1" dirty="0">
                <a:solidFill>
                  <a:srgbClr val="64DCD3"/>
                </a:solidFill>
                <a:latin typeface="Aptos" pitchFamily="34" charset="0"/>
                <a:ea typeface="Aptos" pitchFamily="34" charset="-122"/>
                <a:cs typeface="Aptos" pitchFamily="34" charset="-120"/>
              </a:rPr>
              <a:t>0.9896   ±   .0022</a:t>
            </a:r>
            <a:endParaRPr lang="en-US" sz="1540" dirty="0"/>
          </a:p>
        </p:txBody>
      </p:sp>
      <p:sp>
        <p:nvSpPr>
          <p:cNvPr id="17" name="Shape 15"/>
          <p:cNvSpPr/>
          <p:nvPr/>
        </p:nvSpPr>
        <p:spPr>
          <a:xfrm>
            <a:off x="640080" y="3163824"/>
            <a:ext cx="7406640" cy="0"/>
          </a:xfrm>
          <a:prstGeom prst="line">
            <a:avLst/>
          </a:prstGeom>
          <a:noFill/>
          <a:ln w="6350">
            <a:solidFill>
              <a:srgbClr val="293B55"/>
            </a:solidFill>
            <a:prstDash val="solid"/>
          </a:ln>
        </p:spPr>
      </p:sp>
      <p:sp>
        <p:nvSpPr>
          <p:cNvPr id="18" name="Text 16"/>
          <p:cNvSpPr/>
          <p:nvPr/>
        </p:nvSpPr>
        <p:spPr>
          <a:xfrm>
            <a:off x="640080" y="3268980"/>
            <a:ext cx="3127248" cy="256032"/>
          </a:xfrm>
          <a:prstGeom prst="rect">
            <a:avLst/>
          </a:prstGeom>
          <a:noFill/>
          <a:ln/>
        </p:spPr>
        <p:txBody>
          <a:bodyPr wrap="square" lIns="0" tIns="0" rIns="0" bIns="0" rtlCol="0" anchor="ctr">
            <a:normAutofit/>
          </a:bodyPr>
          <a:lstStyle/>
          <a:p>
            <a:pPr algn="l" indent="0" marL="0">
              <a:buNone/>
            </a:pPr>
            <a:r>
              <a:rPr lang="en-US" sz="1470" dirty="0">
                <a:solidFill>
                  <a:srgbClr val="F6FAFF"/>
                </a:solidFill>
                <a:latin typeface="Aptos" pitchFamily="34" charset="0"/>
                <a:ea typeface="Aptos" pitchFamily="34" charset="-122"/>
                <a:cs typeface="Aptos" pitchFamily="34" charset="-120"/>
              </a:rPr>
              <a:t>SVM  ·  no stop words</a:t>
            </a:r>
            <a:endParaRPr lang="en-US" sz="1470" dirty="0"/>
          </a:p>
        </p:txBody>
      </p:sp>
      <p:sp>
        <p:nvSpPr>
          <p:cNvPr id="19" name="Shape 17"/>
          <p:cNvSpPr/>
          <p:nvPr/>
        </p:nvSpPr>
        <p:spPr>
          <a:xfrm>
            <a:off x="3877056" y="3319272"/>
            <a:ext cx="2039112" cy="137160"/>
          </a:xfrm>
          <a:prstGeom prst="roundRect">
            <a:avLst>
              <a:gd name="adj" fmla="val 26667"/>
            </a:avLst>
          </a:prstGeom>
          <a:solidFill>
            <a:srgbClr val="1A2B43"/>
          </a:solidFill>
          <a:ln w="12700">
            <a:solidFill>
              <a:srgbClr val="1A2B43"/>
            </a:solidFill>
            <a:prstDash val="solid"/>
          </a:ln>
        </p:spPr>
      </p:sp>
      <p:sp>
        <p:nvSpPr>
          <p:cNvPr id="20" name="Shape 18"/>
          <p:cNvSpPr/>
          <p:nvPr/>
        </p:nvSpPr>
        <p:spPr>
          <a:xfrm>
            <a:off x="3877056" y="3319272"/>
            <a:ext cx="2017294" cy="137160"/>
          </a:xfrm>
          <a:prstGeom prst="roundRect">
            <a:avLst>
              <a:gd name="adj" fmla="val 26667"/>
            </a:avLst>
          </a:prstGeom>
          <a:solidFill>
            <a:srgbClr val="89A6FF"/>
          </a:solidFill>
          <a:ln w="12700">
            <a:solidFill>
              <a:srgbClr val="89A6FF"/>
            </a:solidFill>
            <a:prstDash val="solid"/>
          </a:ln>
        </p:spPr>
      </p:sp>
      <p:sp>
        <p:nvSpPr>
          <p:cNvPr id="21" name="Text 19"/>
          <p:cNvSpPr/>
          <p:nvPr/>
        </p:nvSpPr>
        <p:spPr>
          <a:xfrm>
            <a:off x="6190488" y="3259836"/>
            <a:ext cx="1874520" cy="338328"/>
          </a:xfrm>
          <a:prstGeom prst="rect">
            <a:avLst/>
          </a:prstGeom>
          <a:noFill/>
          <a:ln/>
        </p:spPr>
        <p:txBody>
          <a:bodyPr wrap="square" lIns="0" tIns="0" rIns="0" bIns="0" rtlCol="0" anchor="ctr">
            <a:normAutofit/>
          </a:bodyPr>
          <a:lstStyle/>
          <a:p>
            <a:pPr algn="l" indent="0" marL="0">
              <a:buNone/>
            </a:pPr>
            <a:r>
              <a:rPr lang="en-US" sz="1540" dirty="0">
                <a:solidFill>
                  <a:srgbClr val="F6FAFF"/>
                </a:solidFill>
                <a:latin typeface="Aptos" pitchFamily="34" charset="0"/>
                <a:ea typeface="Aptos" pitchFamily="34" charset="-122"/>
                <a:cs typeface="Aptos" pitchFamily="34" charset="-120"/>
              </a:rPr>
              <a:t>0.9893   ±   .0030</a:t>
            </a:r>
            <a:endParaRPr lang="en-US" sz="1540" dirty="0"/>
          </a:p>
        </p:txBody>
      </p:sp>
      <p:sp>
        <p:nvSpPr>
          <p:cNvPr id="22" name="Shape 20"/>
          <p:cNvSpPr/>
          <p:nvPr/>
        </p:nvSpPr>
        <p:spPr>
          <a:xfrm>
            <a:off x="640080" y="3753612"/>
            <a:ext cx="7406640" cy="0"/>
          </a:xfrm>
          <a:prstGeom prst="line">
            <a:avLst/>
          </a:prstGeom>
          <a:noFill/>
          <a:ln w="6350">
            <a:solidFill>
              <a:srgbClr val="293B55"/>
            </a:solidFill>
            <a:prstDash val="solid"/>
          </a:ln>
        </p:spPr>
      </p:sp>
      <p:sp>
        <p:nvSpPr>
          <p:cNvPr id="23" name="Text 21"/>
          <p:cNvSpPr/>
          <p:nvPr/>
        </p:nvSpPr>
        <p:spPr>
          <a:xfrm>
            <a:off x="640080" y="3858768"/>
            <a:ext cx="3127248" cy="256032"/>
          </a:xfrm>
          <a:prstGeom prst="rect">
            <a:avLst/>
          </a:prstGeom>
          <a:noFill/>
          <a:ln/>
        </p:spPr>
        <p:txBody>
          <a:bodyPr wrap="square" lIns="0" tIns="0" rIns="0" bIns="0" rtlCol="0" anchor="ctr">
            <a:normAutofit/>
          </a:bodyPr>
          <a:lstStyle/>
          <a:p>
            <a:pPr algn="l" indent="0" marL="0">
              <a:buNone/>
            </a:pPr>
            <a:r>
              <a:rPr lang="en-US" sz="1470" dirty="0">
                <a:solidFill>
                  <a:srgbClr val="F6FAFF"/>
                </a:solidFill>
                <a:latin typeface="Aptos" pitchFamily="34" charset="0"/>
                <a:ea typeface="Aptos" pitchFamily="34" charset="-122"/>
                <a:cs typeface="Aptos" pitchFamily="34" charset="-120"/>
              </a:rPr>
              <a:t>SVM  ·  +6 linguistic features</a:t>
            </a:r>
            <a:endParaRPr lang="en-US" sz="1470" dirty="0"/>
          </a:p>
        </p:txBody>
      </p:sp>
      <p:sp>
        <p:nvSpPr>
          <p:cNvPr id="24" name="Shape 22"/>
          <p:cNvSpPr/>
          <p:nvPr/>
        </p:nvSpPr>
        <p:spPr>
          <a:xfrm>
            <a:off x="3877056" y="3909060"/>
            <a:ext cx="2039112" cy="137160"/>
          </a:xfrm>
          <a:prstGeom prst="roundRect">
            <a:avLst>
              <a:gd name="adj" fmla="val 26667"/>
            </a:avLst>
          </a:prstGeom>
          <a:solidFill>
            <a:srgbClr val="1A2B43"/>
          </a:solidFill>
          <a:ln w="12700">
            <a:solidFill>
              <a:srgbClr val="1A2B43"/>
            </a:solidFill>
            <a:prstDash val="solid"/>
          </a:ln>
        </p:spPr>
      </p:sp>
      <p:sp>
        <p:nvSpPr>
          <p:cNvPr id="25" name="Shape 23"/>
          <p:cNvSpPr/>
          <p:nvPr/>
        </p:nvSpPr>
        <p:spPr>
          <a:xfrm>
            <a:off x="3877056" y="3909060"/>
            <a:ext cx="2015662" cy="137160"/>
          </a:xfrm>
          <a:prstGeom prst="roundRect">
            <a:avLst>
              <a:gd name="adj" fmla="val 26667"/>
            </a:avLst>
          </a:prstGeom>
          <a:solidFill>
            <a:srgbClr val="89A6FF"/>
          </a:solidFill>
          <a:ln w="12700">
            <a:solidFill>
              <a:srgbClr val="89A6FF"/>
            </a:solidFill>
            <a:prstDash val="solid"/>
          </a:ln>
        </p:spPr>
      </p:sp>
      <p:sp>
        <p:nvSpPr>
          <p:cNvPr id="26" name="Text 24"/>
          <p:cNvSpPr/>
          <p:nvPr/>
        </p:nvSpPr>
        <p:spPr>
          <a:xfrm>
            <a:off x="6190488" y="3849624"/>
            <a:ext cx="1874520" cy="338328"/>
          </a:xfrm>
          <a:prstGeom prst="rect">
            <a:avLst/>
          </a:prstGeom>
          <a:noFill/>
          <a:ln/>
        </p:spPr>
        <p:txBody>
          <a:bodyPr wrap="square" lIns="0" tIns="0" rIns="0" bIns="0" rtlCol="0" anchor="ctr">
            <a:normAutofit/>
          </a:bodyPr>
          <a:lstStyle/>
          <a:p>
            <a:pPr algn="l" indent="0" marL="0">
              <a:buNone/>
            </a:pPr>
            <a:r>
              <a:rPr lang="en-US" sz="1540" dirty="0">
                <a:solidFill>
                  <a:srgbClr val="F6FAFF"/>
                </a:solidFill>
                <a:latin typeface="Aptos" pitchFamily="34" charset="0"/>
                <a:ea typeface="Aptos" pitchFamily="34" charset="-122"/>
                <a:cs typeface="Aptos" pitchFamily="34" charset="-120"/>
              </a:rPr>
              <a:t>0.9885   ±   .0049</a:t>
            </a:r>
            <a:endParaRPr lang="en-US" sz="1540" dirty="0"/>
          </a:p>
        </p:txBody>
      </p:sp>
      <p:sp>
        <p:nvSpPr>
          <p:cNvPr id="27" name="Shape 25"/>
          <p:cNvSpPr/>
          <p:nvPr/>
        </p:nvSpPr>
        <p:spPr>
          <a:xfrm>
            <a:off x="640080" y="4343400"/>
            <a:ext cx="7406640" cy="0"/>
          </a:xfrm>
          <a:prstGeom prst="line">
            <a:avLst/>
          </a:prstGeom>
          <a:noFill/>
          <a:ln w="6350">
            <a:solidFill>
              <a:srgbClr val="293B55"/>
            </a:solidFill>
            <a:prstDash val="solid"/>
          </a:ln>
        </p:spPr>
      </p:sp>
      <p:sp>
        <p:nvSpPr>
          <p:cNvPr id="28" name="Text 26"/>
          <p:cNvSpPr/>
          <p:nvPr/>
        </p:nvSpPr>
        <p:spPr>
          <a:xfrm>
            <a:off x="640080" y="4448556"/>
            <a:ext cx="3127248" cy="256032"/>
          </a:xfrm>
          <a:prstGeom prst="rect">
            <a:avLst/>
          </a:prstGeom>
          <a:noFill/>
          <a:ln/>
        </p:spPr>
        <p:txBody>
          <a:bodyPr wrap="square" lIns="0" tIns="0" rIns="0" bIns="0" rtlCol="0" anchor="ctr">
            <a:normAutofit/>
          </a:bodyPr>
          <a:lstStyle/>
          <a:p>
            <a:pPr algn="l" indent="0" marL="0">
              <a:buNone/>
            </a:pPr>
            <a:r>
              <a:rPr lang="en-US" sz="1470" dirty="0">
                <a:solidFill>
                  <a:srgbClr val="F6FAFF"/>
                </a:solidFill>
                <a:latin typeface="Aptos" pitchFamily="34" charset="0"/>
                <a:ea typeface="Aptos" pitchFamily="34" charset="-122"/>
                <a:cs typeface="Aptos" pitchFamily="34" charset="-120"/>
              </a:rPr>
              <a:t>Logistic Regression</a:t>
            </a:r>
            <a:endParaRPr lang="en-US" sz="1470" dirty="0"/>
          </a:p>
        </p:txBody>
      </p:sp>
      <p:sp>
        <p:nvSpPr>
          <p:cNvPr id="29" name="Shape 27"/>
          <p:cNvSpPr/>
          <p:nvPr/>
        </p:nvSpPr>
        <p:spPr>
          <a:xfrm>
            <a:off x="3877056" y="4498848"/>
            <a:ext cx="2039112" cy="137160"/>
          </a:xfrm>
          <a:prstGeom prst="roundRect">
            <a:avLst>
              <a:gd name="adj" fmla="val 26667"/>
            </a:avLst>
          </a:prstGeom>
          <a:solidFill>
            <a:srgbClr val="1A2B43"/>
          </a:solidFill>
          <a:ln w="12700">
            <a:solidFill>
              <a:srgbClr val="1A2B43"/>
            </a:solidFill>
            <a:prstDash val="solid"/>
          </a:ln>
        </p:spPr>
      </p:sp>
      <p:sp>
        <p:nvSpPr>
          <p:cNvPr id="30" name="Shape 28"/>
          <p:cNvSpPr/>
          <p:nvPr/>
        </p:nvSpPr>
        <p:spPr>
          <a:xfrm>
            <a:off x="3877056" y="4498848"/>
            <a:ext cx="2005263" cy="137160"/>
          </a:xfrm>
          <a:prstGeom prst="roundRect">
            <a:avLst>
              <a:gd name="adj" fmla="val 26667"/>
            </a:avLst>
          </a:prstGeom>
          <a:solidFill>
            <a:srgbClr val="89A6FF"/>
          </a:solidFill>
          <a:ln w="12700">
            <a:solidFill>
              <a:srgbClr val="89A6FF"/>
            </a:solidFill>
            <a:prstDash val="solid"/>
          </a:ln>
        </p:spPr>
      </p:sp>
      <p:sp>
        <p:nvSpPr>
          <p:cNvPr id="31" name="Text 29"/>
          <p:cNvSpPr/>
          <p:nvPr/>
        </p:nvSpPr>
        <p:spPr>
          <a:xfrm>
            <a:off x="6190488" y="4439412"/>
            <a:ext cx="1874520" cy="338328"/>
          </a:xfrm>
          <a:prstGeom prst="rect">
            <a:avLst/>
          </a:prstGeom>
          <a:noFill/>
          <a:ln/>
        </p:spPr>
        <p:txBody>
          <a:bodyPr wrap="square" lIns="0" tIns="0" rIns="0" bIns="0" rtlCol="0" anchor="ctr">
            <a:normAutofit/>
          </a:bodyPr>
          <a:lstStyle/>
          <a:p>
            <a:pPr algn="l" indent="0" marL="0">
              <a:buNone/>
            </a:pPr>
            <a:r>
              <a:rPr lang="en-US" sz="1540" dirty="0">
                <a:solidFill>
                  <a:srgbClr val="F6FAFF"/>
                </a:solidFill>
                <a:latin typeface="Aptos" pitchFamily="34" charset="0"/>
                <a:ea typeface="Aptos" pitchFamily="34" charset="-122"/>
                <a:cs typeface="Aptos" pitchFamily="34" charset="-120"/>
              </a:rPr>
              <a:t>0.9834   ±   .0061</a:t>
            </a:r>
            <a:endParaRPr lang="en-US" sz="1540" dirty="0"/>
          </a:p>
        </p:txBody>
      </p:sp>
      <p:sp>
        <p:nvSpPr>
          <p:cNvPr id="32" name="Shape 30"/>
          <p:cNvSpPr/>
          <p:nvPr/>
        </p:nvSpPr>
        <p:spPr>
          <a:xfrm>
            <a:off x="640080" y="4933188"/>
            <a:ext cx="7406640" cy="0"/>
          </a:xfrm>
          <a:prstGeom prst="line">
            <a:avLst/>
          </a:prstGeom>
          <a:noFill/>
          <a:ln w="6350">
            <a:solidFill>
              <a:srgbClr val="293B55"/>
            </a:solidFill>
            <a:prstDash val="solid"/>
          </a:ln>
        </p:spPr>
      </p:sp>
      <p:sp>
        <p:nvSpPr>
          <p:cNvPr id="33" name="Text 31"/>
          <p:cNvSpPr/>
          <p:nvPr/>
        </p:nvSpPr>
        <p:spPr>
          <a:xfrm>
            <a:off x="640080" y="5038344"/>
            <a:ext cx="3127248" cy="256032"/>
          </a:xfrm>
          <a:prstGeom prst="rect">
            <a:avLst/>
          </a:prstGeom>
          <a:noFill/>
          <a:ln/>
        </p:spPr>
        <p:txBody>
          <a:bodyPr wrap="square" lIns="0" tIns="0" rIns="0" bIns="0" rtlCol="0" anchor="ctr">
            <a:normAutofit/>
          </a:bodyPr>
          <a:lstStyle/>
          <a:p>
            <a:pPr algn="l" indent="0" marL="0">
              <a:buNone/>
            </a:pPr>
            <a:r>
              <a:rPr lang="en-US" sz="1470" dirty="0">
                <a:solidFill>
                  <a:srgbClr val="F6FAFF"/>
                </a:solidFill>
                <a:latin typeface="Aptos" pitchFamily="34" charset="0"/>
                <a:ea typeface="Aptos" pitchFamily="34" charset="-122"/>
                <a:cs typeface="Aptos" pitchFamily="34" charset="-120"/>
              </a:rPr>
              <a:t>Multinomial Naive Bayes</a:t>
            </a:r>
            <a:endParaRPr lang="en-US" sz="1470" dirty="0"/>
          </a:p>
        </p:txBody>
      </p:sp>
      <p:sp>
        <p:nvSpPr>
          <p:cNvPr id="34" name="Shape 32"/>
          <p:cNvSpPr/>
          <p:nvPr/>
        </p:nvSpPr>
        <p:spPr>
          <a:xfrm>
            <a:off x="3877056" y="5088636"/>
            <a:ext cx="2039112" cy="137160"/>
          </a:xfrm>
          <a:prstGeom prst="roundRect">
            <a:avLst>
              <a:gd name="adj" fmla="val 26667"/>
            </a:avLst>
          </a:prstGeom>
          <a:solidFill>
            <a:srgbClr val="1A2B43"/>
          </a:solidFill>
          <a:ln w="12700">
            <a:solidFill>
              <a:srgbClr val="1A2B43"/>
            </a:solidFill>
            <a:prstDash val="solid"/>
          </a:ln>
        </p:spPr>
      </p:sp>
      <p:sp>
        <p:nvSpPr>
          <p:cNvPr id="35" name="Shape 33"/>
          <p:cNvSpPr/>
          <p:nvPr/>
        </p:nvSpPr>
        <p:spPr>
          <a:xfrm>
            <a:off x="3877056" y="5088636"/>
            <a:ext cx="1815625" cy="137160"/>
          </a:xfrm>
          <a:prstGeom prst="roundRect">
            <a:avLst>
              <a:gd name="adj" fmla="val 26667"/>
            </a:avLst>
          </a:prstGeom>
          <a:solidFill>
            <a:srgbClr val="89A6FF"/>
          </a:solidFill>
          <a:ln w="12700">
            <a:solidFill>
              <a:srgbClr val="89A6FF"/>
            </a:solidFill>
            <a:prstDash val="solid"/>
          </a:ln>
        </p:spPr>
      </p:sp>
      <p:sp>
        <p:nvSpPr>
          <p:cNvPr id="36" name="Text 34"/>
          <p:cNvSpPr/>
          <p:nvPr/>
        </p:nvSpPr>
        <p:spPr>
          <a:xfrm>
            <a:off x="6190488" y="5029200"/>
            <a:ext cx="1874520" cy="338328"/>
          </a:xfrm>
          <a:prstGeom prst="rect">
            <a:avLst/>
          </a:prstGeom>
          <a:noFill/>
          <a:ln/>
        </p:spPr>
        <p:txBody>
          <a:bodyPr wrap="square" lIns="0" tIns="0" rIns="0" bIns="0" rtlCol="0" anchor="ctr">
            <a:normAutofit/>
          </a:bodyPr>
          <a:lstStyle/>
          <a:p>
            <a:pPr algn="l" indent="0" marL="0">
              <a:buNone/>
            </a:pPr>
            <a:r>
              <a:rPr lang="en-US" sz="1540" dirty="0">
                <a:solidFill>
                  <a:srgbClr val="F6FAFF"/>
                </a:solidFill>
                <a:latin typeface="Aptos" pitchFamily="34" charset="0"/>
                <a:ea typeface="Aptos" pitchFamily="34" charset="-122"/>
                <a:cs typeface="Aptos" pitchFamily="34" charset="-120"/>
              </a:rPr>
              <a:t>0.8904   ±   .0179</a:t>
            </a:r>
            <a:endParaRPr lang="en-US" sz="1540" dirty="0"/>
          </a:p>
        </p:txBody>
      </p:sp>
      <p:sp>
        <p:nvSpPr>
          <p:cNvPr id="37" name="Shape 35"/>
          <p:cNvSpPr/>
          <p:nvPr/>
        </p:nvSpPr>
        <p:spPr>
          <a:xfrm>
            <a:off x="8275320" y="2249424"/>
            <a:ext cx="3355848" cy="3502152"/>
          </a:xfrm>
          <a:prstGeom prst="roundRect">
            <a:avLst>
              <a:gd name="adj" fmla="val 3542"/>
            </a:avLst>
          </a:prstGeom>
          <a:solidFill>
            <a:srgbClr val="142237"/>
          </a:solidFill>
          <a:ln w="10160">
            <a:solidFill>
              <a:srgbClr val="293B55"/>
            </a:solidFill>
            <a:prstDash val="solid"/>
          </a:ln>
        </p:spPr>
      </p:sp>
      <p:sp>
        <p:nvSpPr>
          <p:cNvPr id="38" name="Text 36"/>
          <p:cNvSpPr/>
          <p:nvPr/>
        </p:nvSpPr>
        <p:spPr>
          <a:xfrm>
            <a:off x="8567928" y="2560320"/>
            <a:ext cx="260604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SELECTED MODEL</a:t>
            </a:r>
            <a:endParaRPr lang="en-US" sz="1050" dirty="0"/>
          </a:p>
        </p:txBody>
      </p:sp>
      <p:sp>
        <p:nvSpPr>
          <p:cNvPr id="39" name="Text 37"/>
          <p:cNvSpPr/>
          <p:nvPr/>
        </p:nvSpPr>
        <p:spPr>
          <a:xfrm>
            <a:off x="8567928" y="2871216"/>
            <a:ext cx="2688336" cy="420624"/>
          </a:xfrm>
          <a:prstGeom prst="rect">
            <a:avLst/>
          </a:prstGeom>
          <a:noFill/>
          <a:ln/>
        </p:spPr>
        <p:txBody>
          <a:bodyPr wrap="square" lIns="0" tIns="0" rIns="0" bIns="0" rtlCol="0" anchor="ctr">
            <a:normAutofit/>
          </a:bodyPr>
          <a:lstStyle/>
          <a:p>
            <a:pPr algn="l" indent="0" marL="0">
              <a:buNone/>
            </a:pPr>
            <a:r>
              <a:rPr lang="en-US" sz="2400" b="1" dirty="0">
                <a:solidFill>
                  <a:srgbClr val="F6FAFF"/>
                </a:solidFill>
                <a:latin typeface="Aptos" pitchFamily="34" charset="0"/>
                <a:ea typeface="Aptos" pitchFamily="34" charset="-122"/>
                <a:cs typeface="Aptos" pitchFamily="34" charset="-120"/>
              </a:rPr>
              <a:t>LINEAR SVM</a:t>
            </a:r>
            <a:endParaRPr lang="en-US" sz="2400" dirty="0"/>
          </a:p>
        </p:txBody>
      </p:sp>
      <p:sp>
        <p:nvSpPr>
          <p:cNvPr id="40" name="Text 38"/>
          <p:cNvSpPr/>
          <p:nvPr/>
        </p:nvSpPr>
        <p:spPr>
          <a:xfrm>
            <a:off x="8540496" y="3621024"/>
            <a:ext cx="2706624" cy="685800"/>
          </a:xfrm>
          <a:prstGeom prst="rect">
            <a:avLst/>
          </a:prstGeom>
          <a:noFill/>
          <a:ln/>
        </p:spPr>
        <p:txBody>
          <a:bodyPr wrap="square" lIns="0" tIns="0" rIns="0" bIns="0" rtlCol="0" anchor="ctr">
            <a:normAutofit/>
          </a:bodyPr>
          <a:lstStyle/>
          <a:p>
            <a:pPr algn="l" indent="0" marL="0">
              <a:buNone/>
            </a:pPr>
            <a:r>
              <a:rPr lang="en-US" sz="4200" b="1" dirty="0">
                <a:solidFill>
                  <a:srgbClr val="64DCD3"/>
                </a:solidFill>
                <a:latin typeface="Aptos" pitchFamily="34" charset="0"/>
                <a:ea typeface="Aptos" pitchFamily="34" charset="-122"/>
                <a:cs typeface="Aptos" pitchFamily="34" charset="-120"/>
              </a:rPr>
              <a:t>98.23%</a:t>
            </a:r>
            <a:endParaRPr lang="en-US" sz="4200" dirty="0"/>
          </a:p>
        </p:txBody>
      </p:sp>
      <p:sp>
        <p:nvSpPr>
          <p:cNvPr id="41" name="Text 39"/>
          <p:cNvSpPr/>
          <p:nvPr/>
        </p:nvSpPr>
        <p:spPr>
          <a:xfrm>
            <a:off x="8577072" y="4297680"/>
            <a:ext cx="2715768" cy="292608"/>
          </a:xfrm>
          <a:prstGeom prst="rect">
            <a:avLst/>
          </a:prstGeom>
          <a:noFill/>
          <a:ln/>
        </p:spPr>
        <p:txBody>
          <a:bodyPr wrap="square" lIns="0" tIns="0" rIns="0" bIns="0" rtlCol="0" anchor="ctr">
            <a:normAutofit/>
          </a:bodyPr>
          <a:lstStyle/>
          <a:p>
            <a:pPr algn="l" indent="0" marL="0">
              <a:buNone/>
            </a:pPr>
            <a:r>
              <a:rPr lang="en-US" sz="1430" dirty="0">
                <a:solidFill>
                  <a:srgbClr val="ADBED4"/>
                </a:solidFill>
                <a:latin typeface="Aptos" pitchFamily="34" charset="0"/>
                <a:ea typeface="Aptos" pitchFamily="34" charset="-122"/>
                <a:cs typeface="Aptos" pitchFamily="34" charset="-120"/>
              </a:rPr>
              <a:t>final holdout accuracy</a:t>
            </a:r>
            <a:endParaRPr lang="en-US" sz="1430" dirty="0"/>
          </a:p>
        </p:txBody>
      </p:sp>
      <p:sp>
        <p:nvSpPr>
          <p:cNvPr id="42" name="Shape 40"/>
          <p:cNvSpPr/>
          <p:nvPr/>
        </p:nvSpPr>
        <p:spPr>
          <a:xfrm>
            <a:off x="8567928" y="4782312"/>
            <a:ext cx="2734056" cy="0"/>
          </a:xfrm>
          <a:prstGeom prst="line">
            <a:avLst/>
          </a:prstGeom>
          <a:noFill/>
          <a:ln w="11430">
            <a:solidFill>
              <a:srgbClr val="293B55"/>
            </a:solidFill>
            <a:prstDash val="solid"/>
          </a:ln>
        </p:spPr>
      </p:sp>
      <p:sp>
        <p:nvSpPr>
          <p:cNvPr id="43" name="Text 41"/>
          <p:cNvSpPr/>
          <p:nvPr/>
        </p:nvSpPr>
        <p:spPr>
          <a:xfrm>
            <a:off x="8567928" y="4983480"/>
            <a:ext cx="1188720" cy="320040"/>
          </a:xfrm>
          <a:prstGeom prst="rect">
            <a:avLst/>
          </a:prstGeom>
          <a:noFill/>
          <a:ln/>
        </p:spPr>
        <p:txBody>
          <a:bodyPr wrap="square" lIns="0" tIns="0" rIns="0" bIns="0" rtlCol="0" anchor="ctr">
            <a:normAutofit/>
          </a:bodyPr>
          <a:lstStyle/>
          <a:p>
            <a:pPr algn="l" indent="0" marL="0">
              <a:buNone/>
            </a:pPr>
            <a:r>
              <a:rPr lang="en-US" sz="1900" b="1" dirty="0">
                <a:solidFill>
                  <a:srgbClr val="F6FAFF"/>
                </a:solidFill>
                <a:latin typeface="Aptos" pitchFamily="34" charset="0"/>
                <a:ea typeface="Aptos" pitchFamily="34" charset="-122"/>
                <a:cs typeface="Aptos" pitchFamily="34" charset="-120"/>
              </a:rPr>
              <a:t>0.9823</a:t>
            </a:r>
            <a:endParaRPr lang="en-US" sz="1900" dirty="0"/>
          </a:p>
        </p:txBody>
      </p:sp>
      <p:sp>
        <p:nvSpPr>
          <p:cNvPr id="44" name="Text 42"/>
          <p:cNvSpPr/>
          <p:nvPr/>
        </p:nvSpPr>
        <p:spPr>
          <a:xfrm>
            <a:off x="9848088" y="5020056"/>
            <a:ext cx="1408176" cy="219456"/>
          </a:xfrm>
          <a:prstGeom prst="rect">
            <a:avLst/>
          </a:prstGeom>
          <a:noFill/>
          <a:ln/>
        </p:spPr>
        <p:txBody>
          <a:bodyPr wrap="square" lIns="0" tIns="0" rIns="0" bIns="0" rtlCol="0" anchor="ctr">
            <a:normAutofit/>
          </a:bodyPr>
          <a:lstStyle/>
          <a:p>
            <a:pPr algn="l" indent="0" marL="0">
              <a:buNone/>
            </a:pPr>
            <a:r>
              <a:rPr lang="en-US" sz="1270" dirty="0">
                <a:solidFill>
                  <a:srgbClr val="ADBED4"/>
                </a:solidFill>
                <a:latin typeface="Aptos" pitchFamily="34" charset="0"/>
                <a:ea typeface="Aptos" pitchFamily="34" charset="-122"/>
                <a:cs typeface="Aptos" pitchFamily="34" charset="-120"/>
              </a:rPr>
              <a:t>Macro-F1</a:t>
            </a:r>
            <a:endParaRPr lang="en-US" sz="1270" dirty="0"/>
          </a:p>
        </p:txBody>
      </p:sp>
      <p:sp>
        <p:nvSpPr>
          <p:cNvPr id="45" name="Text 43"/>
          <p:cNvSpPr/>
          <p:nvPr/>
        </p:nvSpPr>
        <p:spPr>
          <a:xfrm>
            <a:off x="8586216" y="5422392"/>
            <a:ext cx="2834640" cy="219456"/>
          </a:xfrm>
          <a:prstGeom prst="rect">
            <a:avLst/>
          </a:prstGeom>
          <a:noFill/>
          <a:ln/>
        </p:spPr>
        <p:txBody>
          <a:bodyPr wrap="square" lIns="0" tIns="0" rIns="0" bIns="0" rtlCol="0" anchor="ctr">
            <a:normAutofit/>
          </a:bodyPr>
          <a:lstStyle/>
          <a:p>
            <a:pPr algn="l" indent="0" marL="0">
              <a:buNone/>
            </a:pPr>
            <a:r>
              <a:rPr lang="en-US" sz="1280" dirty="0">
                <a:solidFill>
                  <a:srgbClr val="ADBED4"/>
                </a:solidFill>
                <a:latin typeface="Aptos" pitchFamily="34" charset="0"/>
                <a:ea typeface="Aptos" pitchFamily="34" charset="-122"/>
                <a:cs typeface="Aptos" pitchFamily="34" charset="-120"/>
              </a:rPr>
              <a:t>12 errors  /  677 test texts</a:t>
            </a:r>
            <a:endParaRPr lang="en-US" sz="1280" dirty="0"/>
          </a:p>
        </p:txBody>
      </p:sp>
      <p:sp>
        <p:nvSpPr>
          <p:cNvPr id="46" name="Text 44"/>
          <p:cNvSpPr/>
          <p:nvPr/>
        </p:nvSpPr>
        <p:spPr>
          <a:xfrm>
            <a:off x="630936" y="6035040"/>
            <a:ext cx="11009376" cy="256032"/>
          </a:xfrm>
          <a:prstGeom prst="rect">
            <a:avLst/>
          </a:prstGeom>
          <a:noFill/>
          <a:ln/>
        </p:spPr>
        <p:txBody>
          <a:bodyPr wrap="square" lIns="0" tIns="0" rIns="0" bIns="0" rtlCol="0" anchor="ctr">
            <a:normAutofit/>
          </a:bodyPr>
          <a:lstStyle/>
          <a:p>
            <a:pPr algn="l" indent="0" marL="0">
              <a:buNone/>
            </a:pPr>
            <a:r>
              <a:rPr lang="en-US" sz="1280" dirty="0">
                <a:solidFill>
                  <a:srgbClr val="ADBED4"/>
                </a:solidFill>
                <a:latin typeface="Aptos" pitchFamily="34" charset="0"/>
                <a:ea typeface="Aptos" pitchFamily="34" charset="-122"/>
                <a:cs typeface="Aptos" pitchFamily="34" charset="-120"/>
              </a:rPr>
              <a:t>Macro-F1 is the selection metric; accuracy is reported for clarity.</a:t>
            </a:r>
            <a:endParaRPr lang="en-US" sz="1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24"/>
        </a:solidFill>
      </p:bgPr>
    </p:bg>
    <p:spTree>
      <p:nvGrpSpPr>
        <p:cNvPr id="1" name=""/>
        <p:cNvGrpSpPr/>
        <p:nvPr/>
      </p:nvGrpSpPr>
      <p:grpSpPr>
        <a:xfrm>
          <a:off x="0" y="0"/>
          <a:ext cx="0" cy="0"/>
          <a:chOff x="0" y="0"/>
          <a:chExt cx="0" cy="0"/>
        </a:xfrm>
      </p:grpSpPr>
      <p:sp>
        <p:nvSpPr>
          <p:cNvPr id="2" name="Shape 0"/>
          <p:cNvSpPr/>
          <p:nvPr/>
        </p:nvSpPr>
        <p:spPr>
          <a:xfrm>
            <a:off x="438912" y="448056"/>
            <a:ext cx="82296" cy="301752"/>
          </a:xfrm>
          <a:prstGeom prst="rect">
            <a:avLst/>
          </a:prstGeom>
          <a:solidFill>
            <a:srgbClr val="64DCD3"/>
          </a:solidFill>
          <a:ln w="12700">
            <a:solidFill>
              <a:srgbClr val="64DCD3"/>
            </a:solidFill>
            <a:prstDash val="solid"/>
          </a:ln>
        </p:spPr>
      </p:sp>
      <p:sp>
        <p:nvSpPr>
          <p:cNvPr id="3" name="Text 1"/>
          <p:cNvSpPr/>
          <p:nvPr/>
        </p:nvSpPr>
        <p:spPr>
          <a:xfrm>
            <a:off x="667512" y="438912"/>
            <a:ext cx="5943600" cy="256032"/>
          </a:xfrm>
          <a:prstGeom prst="rect">
            <a:avLst/>
          </a:prstGeom>
          <a:noFill/>
          <a:ln/>
        </p:spPr>
        <p:txBody>
          <a:bodyPr wrap="square" lIns="0" tIns="0" rIns="0" bIns="0" rtlCol="0" anchor="ctr">
            <a:normAutofit/>
          </a:bodyPr>
          <a:lstStyle/>
          <a:p>
            <a:pPr algn="l" indent="0" marL="0">
              <a:buNone/>
            </a:pPr>
            <a:r>
              <a:rPr lang="en-US" sz="1050" b="1" spc="170" kern="0" dirty="0">
                <a:solidFill>
                  <a:srgbClr val="ADBED4"/>
                </a:solidFill>
                <a:latin typeface="Aptos" pitchFamily="34" charset="0"/>
                <a:ea typeface="Aptos" pitchFamily="34" charset="-122"/>
                <a:cs typeface="Aptos" pitchFamily="34" charset="-120"/>
              </a:rPr>
              <a:t>COE025   /   NATURAL LANGUAGE PROCESSING</a:t>
            </a:r>
            <a:endParaRPr lang="en-US" sz="1050" dirty="0"/>
          </a:p>
        </p:txBody>
      </p:sp>
      <p:sp>
        <p:nvSpPr>
          <p:cNvPr id="4" name="Text 2"/>
          <p:cNvSpPr/>
          <p:nvPr/>
        </p:nvSpPr>
        <p:spPr>
          <a:xfrm>
            <a:off x="7315200" y="438912"/>
            <a:ext cx="4389120" cy="256032"/>
          </a:xfrm>
          <a:prstGeom prst="rect">
            <a:avLst/>
          </a:prstGeom>
          <a:noFill/>
          <a:ln/>
        </p:spPr>
        <p:txBody>
          <a:bodyPr wrap="square" lIns="0" tIns="0" rIns="0" bIns="0" rtlCol="0" anchor="ctr">
            <a:normAutofit/>
          </a:bodyPr>
          <a:lstStyle/>
          <a:p>
            <a:pPr algn="r" indent="0" marL="0">
              <a:buNone/>
            </a:pPr>
            <a:r>
              <a:rPr lang="en-US" sz="1050" b="1" spc="80" kern="0" dirty="0">
                <a:solidFill>
                  <a:srgbClr val="ADBED4"/>
                </a:solidFill>
                <a:latin typeface="Aptos" pitchFamily="34" charset="0"/>
                <a:ea typeface="Aptos" pitchFamily="34" charset="-122"/>
                <a:cs typeface="Aptos" pitchFamily="34" charset="-120"/>
              </a:rPr>
              <a:t>PROJECT 01     ·     INTERPRETATION</a:t>
            </a:r>
            <a:endParaRPr lang="en-US" sz="1050" dirty="0"/>
          </a:p>
        </p:txBody>
      </p:sp>
      <p:sp>
        <p:nvSpPr>
          <p:cNvPr id="5" name="Shape 3"/>
          <p:cNvSpPr/>
          <p:nvPr/>
        </p:nvSpPr>
        <p:spPr>
          <a:xfrm>
            <a:off x="475488" y="914400"/>
            <a:ext cx="11228832" cy="0"/>
          </a:xfrm>
          <a:prstGeom prst="line">
            <a:avLst/>
          </a:prstGeom>
          <a:noFill/>
          <a:ln w="10160">
            <a:solidFill>
              <a:srgbClr val="293B55"/>
            </a:solidFill>
            <a:prstDash val="solid"/>
          </a:ln>
        </p:spPr>
      </p:sp>
      <p:sp>
        <p:nvSpPr>
          <p:cNvPr id="6" name="Shape 4"/>
          <p:cNvSpPr/>
          <p:nvPr/>
        </p:nvSpPr>
        <p:spPr>
          <a:xfrm>
            <a:off x="475488" y="6528816"/>
            <a:ext cx="11228832" cy="0"/>
          </a:xfrm>
          <a:prstGeom prst="line">
            <a:avLst/>
          </a:prstGeom>
          <a:noFill/>
          <a:ln w="10160">
            <a:solidFill>
              <a:srgbClr val="293B55"/>
            </a:solidFill>
            <a:prstDash val="solid"/>
          </a:ln>
        </p:spPr>
      </p:sp>
      <p:sp>
        <p:nvSpPr>
          <p:cNvPr id="7" name="Text 5"/>
          <p:cNvSpPr/>
          <p:nvPr/>
        </p:nvSpPr>
        <p:spPr>
          <a:xfrm>
            <a:off x="512064" y="6583680"/>
            <a:ext cx="8595360" cy="164592"/>
          </a:xfrm>
          <a:prstGeom prst="rect">
            <a:avLst/>
          </a:prstGeom>
          <a:noFill/>
          <a:ln/>
        </p:spPr>
        <p:txBody>
          <a:bodyPr wrap="square" lIns="0" tIns="0" rIns="0" bIns="0" rtlCol="0" anchor="ctr">
            <a:normAutofit/>
          </a:bodyPr>
          <a:lstStyle/>
          <a:p>
            <a:pPr algn="l" indent="0" marL="0">
              <a:buNone/>
            </a:pPr>
            <a:r>
              <a:rPr lang="en-US" sz="950" dirty="0">
                <a:solidFill>
                  <a:srgbClr val="7990AC"/>
                </a:solidFill>
                <a:latin typeface="Aptos" pitchFamily="34" charset="0"/>
                <a:ea typeface="Aptos" pitchFamily="34" charset="-122"/>
                <a:cs typeface="Aptos" pitchFamily="34" charset="-120"/>
              </a:rPr>
              <a:t>AI vs. Human  ·  Oct 2026  ·  Local VS Code benchmark</a:t>
            </a:r>
            <a:endParaRPr lang="en-US" sz="950" dirty="0"/>
          </a:p>
        </p:txBody>
      </p:sp>
      <p:sp>
        <p:nvSpPr>
          <p:cNvPr id="8" name="Text 6"/>
          <p:cNvSpPr/>
          <p:nvPr/>
        </p:nvSpPr>
        <p:spPr>
          <a:xfrm>
            <a:off x="11064240" y="6583680"/>
            <a:ext cx="640080" cy="164592"/>
          </a:xfrm>
          <a:prstGeom prst="rect">
            <a:avLst/>
          </a:prstGeom>
          <a:noFill/>
          <a:ln/>
        </p:spPr>
        <p:txBody>
          <a:bodyPr wrap="square" lIns="0" tIns="0" rIns="0" bIns="0" rtlCol="0" anchor="ctr">
            <a:normAutofit/>
          </a:bodyPr>
          <a:lstStyle/>
          <a:p>
            <a:pPr algn="r" indent="0" marL="0">
              <a:buNone/>
            </a:pPr>
            <a:r>
              <a:rPr lang="en-US" sz="950" dirty="0">
                <a:solidFill>
                  <a:srgbClr val="ADBED4"/>
                </a:solidFill>
                <a:latin typeface="Aptos" pitchFamily="34" charset="0"/>
                <a:ea typeface="Aptos" pitchFamily="34" charset="-122"/>
                <a:cs typeface="Aptos" pitchFamily="34" charset="-120"/>
              </a:rPr>
              <a:t>04</a:t>
            </a:r>
            <a:endParaRPr lang="en-US" sz="950" dirty="0"/>
          </a:p>
        </p:txBody>
      </p:sp>
      <p:sp>
        <p:nvSpPr>
          <p:cNvPr id="9" name="Text 7"/>
          <p:cNvSpPr/>
          <p:nvPr/>
        </p:nvSpPr>
        <p:spPr>
          <a:xfrm>
            <a:off x="530352" y="1143000"/>
            <a:ext cx="10698480" cy="566928"/>
          </a:xfrm>
          <a:prstGeom prst="rect">
            <a:avLst/>
          </a:prstGeom>
          <a:noFill/>
          <a:ln/>
        </p:spPr>
        <p:txBody>
          <a:bodyPr wrap="square" lIns="0" tIns="0" rIns="0" bIns="0" rtlCol="0" anchor="ctr">
            <a:normAutofit/>
          </a:bodyPr>
          <a:lstStyle/>
          <a:p>
            <a:pPr algn="l" indent="0" marL="0">
              <a:buNone/>
            </a:pPr>
            <a:r>
              <a:rPr lang="en-US" sz="3200" b="1" dirty="0">
                <a:solidFill>
                  <a:srgbClr val="F6FAFF"/>
                </a:solidFill>
                <a:latin typeface="Aptos" pitchFamily="34" charset="0"/>
                <a:ea typeface="Aptos" pitchFamily="34" charset="-122"/>
                <a:cs typeface="Aptos" pitchFamily="34" charset="-120"/>
              </a:rPr>
              <a:t>STRONG IN-CORPUS ≠ UNIVERSAL DETECTOR</a:t>
            </a:r>
            <a:endParaRPr lang="en-US" sz="3200" dirty="0"/>
          </a:p>
        </p:txBody>
      </p:sp>
      <p:sp>
        <p:nvSpPr>
          <p:cNvPr id="10" name="Text 8"/>
          <p:cNvSpPr/>
          <p:nvPr/>
        </p:nvSpPr>
        <p:spPr>
          <a:xfrm>
            <a:off x="539496" y="1783080"/>
            <a:ext cx="10972800" cy="384048"/>
          </a:xfrm>
          <a:prstGeom prst="rect">
            <a:avLst/>
          </a:prstGeom>
          <a:noFill/>
          <a:ln/>
        </p:spPr>
        <p:txBody>
          <a:bodyPr wrap="square" lIns="0" tIns="0" rIns="0" bIns="0" rtlCol="0" anchor="ctr">
            <a:normAutofit/>
          </a:bodyPr>
          <a:lstStyle/>
          <a:p>
            <a:pPr algn="l" indent="0" marL="0">
              <a:buNone/>
            </a:pPr>
            <a:r>
              <a:rPr lang="en-US" sz="1500" dirty="0">
                <a:solidFill>
                  <a:srgbClr val="ADBED4"/>
                </a:solidFill>
                <a:latin typeface="Aptos" pitchFamily="34" charset="0"/>
                <a:ea typeface="Aptos" pitchFamily="34" charset="-122"/>
                <a:cs typeface="Aptos" pitchFamily="34" charset="-120"/>
              </a:rPr>
              <a:t>Internal scores are reproducible; external published scores are not directly comparable.</a:t>
            </a:r>
            <a:endParaRPr lang="en-US" sz="1500" dirty="0"/>
          </a:p>
        </p:txBody>
      </p:sp>
      <p:sp>
        <p:nvSpPr>
          <p:cNvPr id="11" name="Shape 9"/>
          <p:cNvSpPr/>
          <p:nvPr/>
        </p:nvSpPr>
        <p:spPr>
          <a:xfrm>
            <a:off x="640080" y="2386584"/>
            <a:ext cx="3575304" cy="1792224"/>
          </a:xfrm>
          <a:prstGeom prst="roundRect">
            <a:avLst>
              <a:gd name="adj" fmla="val 5102"/>
            </a:avLst>
          </a:prstGeom>
          <a:solidFill>
            <a:srgbClr val="142237"/>
          </a:solidFill>
          <a:ln w="10160">
            <a:solidFill>
              <a:srgbClr val="293B55"/>
            </a:solidFill>
            <a:prstDash val="solid"/>
          </a:ln>
        </p:spPr>
      </p:sp>
      <p:sp>
        <p:nvSpPr>
          <p:cNvPr id="12" name="Text 10"/>
          <p:cNvSpPr/>
          <p:nvPr/>
        </p:nvSpPr>
        <p:spPr>
          <a:xfrm>
            <a:off x="822960" y="2606040"/>
            <a:ext cx="3209544"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HC3  ·  2023</a:t>
            </a:r>
            <a:endParaRPr lang="en-US" sz="1050" dirty="0"/>
          </a:p>
        </p:txBody>
      </p:sp>
      <p:sp>
        <p:nvSpPr>
          <p:cNvPr id="13" name="Text 11"/>
          <p:cNvSpPr/>
          <p:nvPr/>
        </p:nvSpPr>
        <p:spPr>
          <a:xfrm>
            <a:off x="822960" y="2971800"/>
            <a:ext cx="3191256" cy="603504"/>
          </a:xfrm>
          <a:prstGeom prst="rect">
            <a:avLst/>
          </a:prstGeom>
          <a:noFill/>
          <a:ln/>
        </p:spPr>
        <p:txBody>
          <a:bodyPr wrap="square" lIns="0" tIns="0" rIns="0" bIns="0" rtlCol="0" anchor="t">
            <a:normAutofit/>
          </a:bodyPr>
          <a:lstStyle/>
          <a:p>
            <a:pPr algn="l" indent="0" marL="0">
              <a:buNone/>
            </a:pPr>
            <a:r>
              <a:rPr lang="en-US" sz="1510" dirty="0">
                <a:solidFill>
                  <a:srgbClr val="F6FAFF"/>
                </a:solidFill>
                <a:latin typeface="Aptos" pitchFamily="34" charset="0"/>
                <a:ea typeface="Aptos" pitchFamily="34" charset="-122"/>
                <a:cs typeface="Aptos" pitchFamily="34" charset="-120"/>
              </a:rPr>
              <a:t>Human vs. ChatGPT detection and dataset comparisons.</a:t>
            </a:r>
            <a:endParaRPr lang="en-US" sz="1510" dirty="0"/>
          </a:p>
        </p:txBody>
      </p:sp>
      <p:sp>
        <p:nvSpPr>
          <p:cNvPr id="14" name="Text 12"/>
          <p:cNvSpPr/>
          <p:nvPr/>
        </p:nvSpPr>
        <p:spPr>
          <a:xfrm>
            <a:off x="822960" y="3776472"/>
            <a:ext cx="3209544" cy="164592"/>
          </a:xfrm>
          <a:prstGeom prst="rect">
            <a:avLst/>
          </a:prstGeom>
          <a:noFill/>
          <a:ln/>
        </p:spPr>
        <p:txBody>
          <a:bodyPr wrap="square" lIns="0" tIns="0" rIns="0" bIns="0" rtlCol="0" anchor="ctr">
            <a:normAutofit/>
          </a:bodyPr>
          <a:lstStyle/>
          <a:p>
            <a:pPr algn="l" indent="0" marL="0">
              <a:buNone/>
            </a:pPr>
            <a:r>
              <a:rPr lang="en-US" sz="1050" dirty="0">
                <a:solidFill>
                  <a:srgbClr val="7990AC"/>
                </a:solidFill>
                <a:latin typeface="Aptos" pitchFamily="34" charset="0"/>
                <a:ea typeface="Aptos" pitchFamily="34" charset="-122"/>
                <a:cs typeface="Aptos" pitchFamily="34" charset="-120"/>
              </a:rPr>
              <a:t>arxiv.org/abs/2301.07597</a:t>
            </a:r>
            <a:endParaRPr lang="en-US" sz="1050" dirty="0"/>
          </a:p>
        </p:txBody>
      </p:sp>
      <p:sp>
        <p:nvSpPr>
          <p:cNvPr id="15" name="Shape 13"/>
          <p:cNvSpPr/>
          <p:nvPr/>
        </p:nvSpPr>
        <p:spPr>
          <a:xfrm>
            <a:off x="4398264" y="2386584"/>
            <a:ext cx="3575304" cy="1792224"/>
          </a:xfrm>
          <a:prstGeom prst="roundRect">
            <a:avLst>
              <a:gd name="adj" fmla="val 5102"/>
            </a:avLst>
          </a:prstGeom>
          <a:solidFill>
            <a:srgbClr val="142237"/>
          </a:solidFill>
          <a:ln w="10160">
            <a:solidFill>
              <a:srgbClr val="293B55"/>
            </a:solidFill>
            <a:prstDash val="solid"/>
          </a:ln>
        </p:spPr>
      </p:sp>
      <p:sp>
        <p:nvSpPr>
          <p:cNvPr id="16" name="Text 14"/>
          <p:cNvSpPr/>
          <p:nvPr/>
        </p:nvSpPr>
        <p:spPr>
          <a:xfrm>
            <a:off x="4581144" y="2606040"/>
            <a:ext cx="3209544"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SEMEVAL  ·  2024</a:t>
            </a:r>
            <a:endParaRPr lang="en-US" sz="1050" dirty="0"/>
          </a:p>
        </p:txBody>
      </p:sp>
      <p:sp>
        <p:nvSpPr>
          <p:cNvPr id="17" name="Text 15"/>
          <p:cNvSpPr/>
          <p:nvPr/>
        </p:nvSpPr>
        <p:spPr>
          <a:xfrm>
            <a:off x="4581144" y="2971800"/>
            <a:ext cx="3191256" cy="603504"/>
          </a:xfrm>
          <a:prstGeom prst="rect">
            <a:avLst/>
          </a:prstGeom>
          <a:noFill/>
          <a:ln/>
        </p:spPr>
        <p:txBody>
          <a:bodyPr wrap="square" lIns="0" tIns="0" rIns="0" bIns="0" rtlCol="0" anchor="t">
            <a:normAutofit/>
          </a:bodyPr>
          <a:lstStyle/>
          <a:p>
            <a:pPr algn="l" indent="0" marL="0">
              <a:buNone/>
            </a:pPr>
            <a:r>
              <a:rPr lang="en-US" sz="1510" dirty="0">
                <a:solidFill>
                  <a:srgbClr val="F6FAFF"/>
                </a:solidFill>
                <a:latin typeface="Aptos" pitchFamily="34" charset="0"/>
                <a:ea typeface="Aptos" pitchFamily="34" charset="-122"/>
                <a:cs typeface="Aptos" pitchFamily="34" charset="-120"/>
              </a:rPr>
              <a:t>Classical and neural methods; development-to-test distribution shift.</a:t>
            </a:r>
            <a:endParaRPr lang="en-US" sz="1510" dirty="0"/>
          </a:p>
        </p:txBody>
      </p:sp>
      <p:sp>
        <p:nvSpPr>
          <p:cNvPr id="18" name="Text 16"/>
          <p:cNvSpPr/>
          <p:nvPr/>
        </p:nvSpPr>
        <p:spPr>
          <a:xfrm>
            <a:off x="4581144" y="3776472"/>
            <a:ext cx="3209544" cy="164592"/>
          </a:xfrm>
          <a:prstGeom prst="rect">
            <a:avLst/>
          </a:prstGeom>
          <a:noFill/>
          <a:ln/>
        </p:spPr>
        <p:txBody>
          <a:bodyPr wrap="square" lIns="0" tIns="0" rIns="0" bIns="0" rtlCol="0" anchor="ctr">
            <a:normAutofit/>
          </a:bodyPr>
          <a:lstStyle/>
          <a:p>
            <a:pPr algn="l" indent="0" marL="0">
              <a:buNone/>
            </a:pPr>
            <a:r>
              <a:rPr lang="en-US" sz="1050" dirty="0">
                <a:solidFill>
                  <a:srgbClr val="7990AC"/>
                </a:solidFill>
                <a:latin typeface="Aptos" pitchFamily="34" charset="0"/>
                <a:ea typeface="Aptos" pitchFamily="34" charset="-122"/>
                <a:cs typeface="Aptos" pitchFamily="34" charset="-120"/>
              </a:rPr>
              <a:t>aclanthology.org/2024.semeval-1.148</a:t>
            </a:r>
            <a:endParaRPr lang="en-US" sz="1050" dirty="0"/>
          </a:p>
        </p:txBody>
      </p:sp>
      <p:sp>
        <p:nvSpPr>
          <p:cNvPr id="19" name="Shape 17"/>
          <p:cNvSpPr/>
          <p:nvPr/>
        </p:nvSpPr>
        <p:spPr>
          <a:xfrm>
            <a:off x="8156448" y="2386584"/>
            <a:ext cx="3575304" cy="1792224"/>
          </a:xfrm>
          <a:prstGeom prst="roundRect">
            <a:avLst>
              <a:gd name="adj" fmla="val 5102"/>
            </a:avLst>
          </a:prstGeom>
          <a:solidFill>
            <a:srgbClr val="142237"/>
          </a:solidFill>
          <a:ln w="10160">
            <a:solidFill>
              <a:srgbClr val="293B55"/>
            </a:solidFill>
            <a:prstDash val="solid"/>
          </a:ln>
        </p:spPr>
      </p:sp>
      <p:sp>
        <p:nvSpPr>
          <p:cNvPr id="20" name="Text 18"/>
          <p:cNvSpPr/>
          <p:nvPr/>
        </p:nvSpPr>
        <p:spPr>
          <a:xfrm>
            <a:off x="8339328" y="2606040"/>
            <a:ext cx="3209544"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64DCD3"/>
                </a:solidFill>
                <a:latin typeface="Aptos" pitchFamily="34" charset="0"/>
                <a:ea typeface="Aptos" pitchFamily="34" charset="-122"/>
                <a:cs typeface="Aptos" pitchFamily="34" charset="-120"/>
              </a:rPr>
              <a:t>RAID  ·  2024</a:t>
            </a:r>
            <a:endParaRPr lang="en-US" sz="1050" dirty="0"/>
          </a:p>
        </p:txBody>
      </p:sp>
      <p:sp>
        <p:nvSpPr>
          <p:cNvPr id="21" name="Text 19"/>
          <p:cNvSpPr/>
          <p:nvPr/>
        </p:nvSpPr>
        <p:spPr>
          <a:xfrm>
            <a:off x="8339328" y="2971800"/>
            <a:ext cx="3191256" cy="603504"/>
          </a:xfrm>
          <a:prstGeom prst="rect">
            <a:avLst/>
          </a:prstGeom>
          <a:noFill/>
          <a:ln/>
        </p:spPr>
        <p:txBody>
          <a:bodyPr wrap="square" lIns="0" tIns="0" rIns="0" bIns="0" rtlCol="0" anchor="t">
            <a:normAutofit/>
          </a:bodyPr>
          <a:lstStyle/>
          <a:p>
            <a:pPr algn="l" indent="0" marL="0">
              <a:buNone/>
            </a:pPr>
            <a:r>
              <a:rPr lang="en-US" sz="1510" dirty="0">
                <a:solidFill>
                  <a:srgbClr val="F6FAFF"/>
                </a:solidFill>
                <a:latin typeface="Aptos" pitchFamily="34" charset="0"/>
                <a:ea typeface="Aptos" pitchFamily="34" charset="-122"/>
                <a:cs typeface="Aptos" pitchFamily="34" charset="-120"/>
              </a:rPr>
              <a:t>Stress tests across generators, domains and adversarial conditions.</a:t>
            </a:r>
            <a:endParaRPr lang="en-US" sz="1510" dirty="0"/>
          </a:p>
        </p:txBody>
      </p:sp>
      <p:sp>
        <p:nvSpPr>
          <p:cNvPr id="22" name="Text 20"/>
          <p:cNvSpPr/>
          <p:nvPr/>
        </p:nvSpPr>
        <p:spPr>
          <a:xfrm>
            <a:off x="8339328" y="3776472"/>
            <a:ext cx="3209544" cy="164592"/>
          </a:xfrm>
          <a:prstGeom prst="rect">
            <a:avLst/>
          </a:prstGeom>
          <a:noFill/>
          <a:ln/>
        </p:spPr>
        <p:txBody>
          <a:bodyPr wrap="square" lIns="0" tIns="0" rIns="0" bIns="0" rtlCol="0" anchor="ctr">
            <a:normAutofit/>
          </a:bodyPr>
          <a:lstStyle/>
          <a:p>
            <a:pPr algn="l" indent="0" marL="0">
              <a:buNone/>
            </a:pPr>
            <a:r>
              <a:rPr lang="en-US" sz="1050" dirty="0">
                <a:solidFill>
                  <a:srgbClr val="7990AC"/>
                </a:solidFill>
                <a:latin typeface="Aptos" pitchFamily="34" charset="0"/>
                <a:ea typeface="Aptos" pitchFamily="34" charset="-122"/>
                <a:cs typeface="Aptos" pitchFamily="34" charset="-120"/>
              </a:rPr>
              <a:t>aclanthology.org/2024.acl-long.674</a:t>
            </a:r>
            <a:endParaRPr lang="en-US" sz="1050" dirty="0"/>
          </a:p>
        </p:txBody>
      </p:sp>
      <p:sp>
        <p:nvSpPr>
          <p:cNvPr id="23" name="Text 21"/>
          <p:cNvSpPr/>
          <p:nvPr/>
        </p:nvSpPr>
        <p:spPr>
          <a:xfrm>
            <a:off x="658368" y="4572000"/>
            <a:ext cx="292608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FFBD7C"/>
                </a:solidFill>
                <a:latin typeface="Aptos" pitchFamily="34" charset="0"/>
                <a:ea typeface="Aptos" pitchFamily="34" charset="-122"/>
                <a:cs typeface="Aptos" pitchFamily="34" charset="-120"/>
              </a:rPr>
              <a:t>LIMITATIONS</a:t>
            </a:r>
            <a:endParaRPr lang="en-US" sz="1050" dirty="0"/>
          </a:p>
        </p:txBody>
      </p:sp>
      <p:sp>
        <p:nvSpPr>
          <p:cNvPr id="24" name="Text 22"/>
          <p:cNvSpPr/>
          <p:nvPr/>
        </p:nvSpPr>
        <p:spPr>
          <a:xfrm>
            <a:off x="667512" y="4892040"/>
            <a:ext cx="10991088" cy="429768"/>
          </a:xfrm>
          <a:prstGeom prst="rect">
            <a:avLst/>
          </a:prstGeom>
          <a:noFill/>
          <a:ln/>
        </p:spPr>
        <p:txBody>
          <a:bodyPr wrap="square" lIns="0" tIns="0" rIns="0" bIns="0" rtlCol="0" anchor="ctr">
            <a:normAutofit/>
          </a:bodyPr>
          <a:lstStyle/>
          <a:p>
            <a:pPr algn="l" indent="0" marL="0">
              <a:buNone/>
            </a:pPr>
            <a:r>
              <a:rPr lang="en-US" sz="1700" b="1" dirty="0">
                <a:solidFill>
                  <a:srgbClr val="F6FAFF"/>
                </a:solidFill>
                <a:latin typeface="Aptos" pitchFamily="34" charset="0"/>
                <a:ea typeface="Aptos" pitchFamily="34" charset="-122"/>
                <a:cs typeface="Aptos" pitchFamily="34" charset="-120"/>
              </a:rPr>
              <a:t>Source/topic signals  ·  potential near-duplicates  ·  provenance &amp; label audit</a:t>
            </a:r>
            <a:endParaRPr lang="en-US" sz="1700" dirty="0"/>
          </a:p>
        </p:txBody>
      </p:sp>
      <p:sp>
        <p:nvSpPr>
          <p:cNvPr id="25" name="Shape 23"/>
          <p:cNvSpPr/>
          <p:nvPr/>
        </p:nvSpPr>
        <p:spPr>
          <a:xfrm>
            <a:off x="649224" y="5577840"/>
            <a:ext cx="10927080" cy="566928"/>
          </a:xfrm>
          <a:prstGeom prst="roundRect">
            <a:avLst>
              <a:gd name="adj" fmla="val 12903"/>
            </a:avLst>
          </a:prstGeom>
          <a:solidFill>
            <a:srgbClr val="1A2B43"/>
          </a:solidFill>
          <a:ln w="12700">
            <a:solidFill>
              <a:srgbClr val="1A2B43"/>
            </a:solidFill>
            <a:prstDash val="solid"/>
          </a:ln>
        </p:spPr>
      </p:sp>
      <p:sp>
        <p:nvSpPr>
          <p:cNvPr id="26" name="Text 24"/>
          <p:cNvSpPr/>
          <p:nvPr/>
        </p:nvSpPr>
        <p:spPr>
          <a:xfrm>
            <a:off x="896112" y="5724144"/>
            <a:ext cx="10405872" cy="283464"/>
          </a:xfrm>
          <a:prstGeom prst="rect">
            <a:avLst/>
          </a:prstGeom>
          <a:noFill/>
          <a:ln/>
        </p:spPr>
        <p:txBody>
          <a:bodyPr wrap="square" lIns="0" tIns="0" rIns="0" bIns="0" rtlCol="0" anchor="ctr">
            <a:normAutofit/>
          </a:bodyPr>
          <a:lstStyle/>
          <a:p>
            <a:pPr algn="l" indent="0" marL="0">
              <a:buNone/>
            </a:pPr>
            <a:r>
              <a:rPr lang="en-US" sz="1600" b="1" dirty="0">
                <a:solidFill>
                  <a:srgbClr val="64DCD3"/>
                </a:solidFill>
                <a:latin typeface="Aptos" pitchFamily="34" charset="0"/>
                <a:ea typeface="Aptos" pitchFamily="34" charset="-122"/>
                <a:cs typeface="Aptos" pitchFamily="34" charset="-120"/>
              </a:rPr>
              <a:t>NEXT:  independent test corpora, unseen generators, documented data sources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COE025 Natural Language Processing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vs Human Text Classification | NLP Project 1</dc:title>
  <dc:subject>AI vs Human Text Classification — reproducible benchmark</dc:subject>
  <dc:creator>NLP Project 1 Team</dc:creator>
  <cp:lastModifiedBy>NLP Project 1 Team</cp:lastModifiedBy>
  <cp:revision>1</cp:revision>
  <dcterms:created xsi:type="dcterms:W3CDTF">2026-10-11T16:52:00Z</dcterms:created>
  <dcterms:modified xsi:type="dcterms:W3CDTF">2026-10-11T16:52:00Z</dcterms:modified>
</cp:coreProperties>
</file>